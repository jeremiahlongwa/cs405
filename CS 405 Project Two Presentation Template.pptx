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embeddedFontLst>
    <p:embeddedFont>
      <p:font typeface="Cambria" panose="02040503050406030204" pitchFamily="18" charset="0"/>
      <p:regular r:id="rId20"/>
      <p:bold r:id="rId21"/>
      <p:italic r:id="rId22"/>
      <p:boldItalic r:id="rId23"/>
    </p:embeddedFont>
    <p:embeddedFont>
      <p:font typeface="Century Gothic" panose="020B0502020202020204" pitchFamily="34" charset="0"/>
      <p:regular r:id="rId24"/>
      <p:bold r:id="rId25"/>
      <p:italic r:id="rId26"/>
      <p:boldItalic r:id="rId27"/>
    </p:embeddedFont>
  </p:embeddedFontLst>
  <p:custDataLst>
    <p:tags r:id="rId2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273B4BF1-CDBA-4FBE-879E-53D6905B6122}">
          <p14:sldIdLst>
            <p14:sldId id="256"/>
          </p14:sldIdLst>
        </p14:section>
        <p14:section name="Untitled Section" id="{C9373A45-AF8D-418B-B735-DE97D857AD64}">
          <p14:sldIdLst>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25" autoAdjust="0"/>
  </p:normalViewPr>
  <p:slideViewPr>
    <p:cSldViewPr snapToGrid="0">
      <p:cViewPr>
        <p:scale>
          <a:sx n="150" d="100"/>
          <a:sy n="150" d="100"/>
        </p:scale>
        <p:origin x="654" y="31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7.fntdata"/><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indent="0">
              <a:lnSpc>
                <a:spcPct val="115000"/>
              </a:lnSpc>
              <a:spcBef>
                <a:spcPts val="0"/>
              </a:spcBef>
              <a:spcAft>
                <a:spcPts val="1000"/>
              </a:spcAft>
              <a:buNone/>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Hello my name is Jeremiah </a:t>
            </a:r>
            <a:r>
              <a:rPr lang="en-IN" sz="1800" dirty="0" err="1">
                <a:effectLst/>
                <a:latin typeface="Cambria" panose="02040503050406030204" pitchFamily="18" charset="0"/>
                <a:ea typeface="MS Mincho" panose="02020609040205080304" pitchFamily="49" charset="-128"/>
                <a:cs typeface="Times New Roman" panose="02020603050405020304" pitchFamily="18" charset="0"/>
              </a:rPr>
              <a:t>Longwa</a:t>
            </a:r>
            <a:r>
              <a:rPr lang="en-IN" sz="1800" dirty="0">
                <a:effectLst/>
                <a:latin typeface="Cambria" panose="02040503050406030204" pitchFamily="18" charset="0"/>
                <a:ea typeface="MS Mincho" panose="02020609040205080304" pitchFamily="49" charset="-128"/>
                <a:cs typeface="Times New Roman" panose="02020603050405020304" pitchFamily="18" charset="0"/>
              </a:rPr>
              <a:t>. This presentation outlines the Green Pace Security Policy and demonstrates how secure coding standards, </a:t>
            </a:r>
            <a:r>
              <a:rPr lang="en-IN" sz="1800" dirty="0" err="1">
                <a:effectLst/>
                <a:latin typeface="Cambria" panose="02040503050406030204" pitchFamily="18" charset="0"/>
                <a:ea typeface="MS Mincho" panose="02020609040205080304" pitchFamily="49" charset="-128"/>
                <a:cs typeface="Times New Roman" panose="02020603050405020304" pitchFamily="18" charset="0"/>
              </a:rPr>
              <a:t>DevSecOps</a:t>
            </a:r>
            <a:r>
              <a:rPr lang="en-IN" sz="1800" dirty="0">
                <a:effectLst/>
                <a:latin typeface="Cambria" panose="02040503050406030204" pitchFamily="18" charset="0"/>
                <a:ea typeface="MS Mincho" panose="02020609040205080304" pitchFamily="49" charset="-128"/>
                <a:cs typeface="Times New Roman" panose="02020603050405020304" pitchFamily="18" charset="0"/>
              </a:rPr>
              <a:t> automation, encryption, and the Triple-A framework are implemented to reduce vulnerabilities.</a:t>
            </a:r>
            <a:endParaRPr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indent="0">
              <a:lnSpc>
                <a:spcPct val="115000"/>
              </a:lnSpc>
              <a:spcBef>
                <a:spcPts val="0"/>
              </a:spcBef>
              <a:spcAft>
                <a:spcPts val="1000"/>
              </a:spcAft>
              <a:buNone/>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Green Pace adopted a </a:t>
            </a:r>
            <a:r>
              <a:rPr lang="en-IN" sz="1800" dirty="0" err="1">
                <a:effectLst/>
                <a:latin typeface="Cambria" panose="02040503050406030204" pitchFamily="18" charset="0"/>
                <a:ea typeface="MS Mincho" panose="02020609040205080304" pitchFamily="49" charset="-128"/>
                <a:cs typeface="Times New Roman" panose="02020603050405020304" pitchFamily="18" charset="0"/>
              </a:rPr>
              <a:t>defense</a:t>
            </a:r>
            <a:r>
              <a:rPr lang="en-IN" sz="1800" dirty="0">
                <a:effectLst/>
                <a:latin typeface="Cambria" panose="02040503050406030204" pitchFamily="18" charset="0"/>
                <a:ea typeface="MS Mincho" panose="02020609040205080304" pitchFamily="49" charset="-128"/>
                <a:cs typeface="Times New Roman" panose="02020603050405020304" pitchFamily="18" charset="0"/>
              </a:rPr>
              <a:t>-in-depth strategy to ensure layered security controls across planning, development, testing, release, and monitoring.</a:t>
            </a:r>
          </a:p>
          <a:p>
            <a:pPr marL="0" marR="0" indent="0">
              <a:lnSpc>
                <a:spcPct val="115000"/>
              </a:lnSpc>
              <a:spcBef>
                <a:spcPts val="0"/>
              </a:spcBef>
              <a:spcAft>
                <a:spcPts val="1000"/>
              </a:spcAft>
              <a:buNone/>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Instead of relying on a single security mechanism, multiple controls work together. If one fails, others still protect the system. This approach reduces the overall attack surface and improves resilience.</a:t>
            </a: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indent="0">
              <a:lnSpc>
                <a:spcPct val="115000"/>
              </a:lnSpc>
              <a:spcBef>
                <a:spcPts val="0"/>
              </a:spcBef>
              <a:spcAft>
                <a:spcPts val="1000"/>
              </a:spcAft>
              <a:buNone/>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This threat matrix categorizes vulnerabilities based on likelihood and impact.</a:t>
            </a:r>
          </a:p>
          <a:p>
            <a:pPr marL="0" marR="0" indent="0">
              <a:lnSpc>
                <a:spcPct val="115000"/>
              </a:lnSpc>
              <a:spcBef>
                <a:spcPts val="0"/>
              </a:spcBef>
              <a:spcAft>
                <a:spcPts val="1000"/>
              </a:spcAft>
              <a:buNone/>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High-priority threats include SQL injection, improper input validation, memory safety flaws, and boundary violations because they directly allow exploitation.</a:t>
            </a:r>
          </a:p>
          <a:p>
            <a:pPr marL="0" marR="0" indent="0">
              <a:lnSpc>
                <a:spcPct val="115000"/>
              </a:lnSpc>
              <a:spcBef>
                <a:spcPts val="0"/>
              </a:spcBef>
              <a:spcAft>
                <a:spcPts val="1000"/>
              </a:spcAft>
              <a:buNone/>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Moderate risks include string handling and exception mismanagement.</a:t>
            </a:r>
          </a:p>
          <a:p>
            <a:pPr marL="0" marR="0" indent="0">
              <a:lnSpc>
                <a:spcPct val="115000"/>
              </a:lnSpc>
              <a:spcBef>
                <a:spcPts val="0"/>
              </a:spcBef>
              <a:spcAft>
                <a:spcPts val="1000"/>
              </a:spcAft>
              <a:buNone/>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Lower risks include logging and assertion misuse.</a:t>
            </a:r>
          </a:p>
          <a:p>
            <a:pPr marL="0" marR="0" indent="0">
              <a:lnSpc>
                <a:spcPct val="115000"/>
              </a:lnSpc>
              <a:spcBef>
                <a:spcPts val="0"/>
              </a:spcBef>
              <a:spcAft>
                <a:spcPts val="1000"/>
              </a:spcAft>
              <a:buNone/>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This matrix helps prioritize remediation logically.</a:t>
            </a:r>
            <a:endParaRPr dirty="0"/>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Our coding standards align with ten guiding security principles.</a:t>
            </a:r>
          </a:p>
          <a:p>
            <a:pPr marL="0" lvl="0" indent="0" algn="l" rtl="0">
              <a:lnSpc>
                <a:spcPct val="100000"/>
              </a:lnSpc>
              <a:spcBef>
                <a:spcPts val="0"/>
              </a:spcBef>
              <a:spcAft>
                <a:spcPts val="0"/>
              </a:spcAft>
              <a:buSzPts val="1100"/>
              <a:buNone/>
            </a:pPr>
            <a:r>
              <a:rPr lang="en-US" dirty="0"/>
              <a:t>Least Privilege supports access control standards.</a:t>
            </a:r>
          </a:p>
          <a:p>
            <a:pPr marL="0" lvl="0" indent="0" algn="l" rtl="0">
              <a:lnSpc>
                <a:spcPct val="100000"/>
              </a:lnSpc>
              <a:spcBef>
                <a:spcPts val="0"/>
              </a:spcBef>
              <a:spcAft>
                <a:spcPts val="0"/>
              </a:spcAft>
              <a:buSzPts val="1100"/>
              <a:buNone/>
            </a:pPr>
            <a:r>
              <a:rPr lang="en-US" dirty="0"/>
              <a:t>Fail Securely supports exception policies.</a:t>
            </a:r>
          </a:p>
          <a:p>
            <a:pPr marL="0" lvl="0" indent="0" algn="l" rtl="0">
              <a:lnSpc>
                <a:spcPct val="100000"/>
              </a:lnSpc>
              <a:spcBef>
                <a:spcPts val="0"/>
              </a:spcBef>
              <a:spcAft>
                <a:spcPts val="0"/>
              </a:spcAft>
              <a:buSzPts val="1100"/>
              <a:buNone/>
            </a:pPr>
            <a:r>
              <a:rPr lang="en-US" dirty="0"/>
              <a:t>Minimize Attack Surface supports strict input validation.</a:t>
            </a:r>
          </a:p>
          <a:p>
            <a:pPr marL="0" lvl="0" indent="0" algn="l" rtl="0">
              <a:lnSpc>
                <a:spcPct val="100000"/>
              </a:lnSpc>
              <a:spcBef>
                <a:spcPts val="0"/>
              </a:spcBef>
              <a:spcAft>
                <a:spcPts val="0"/>
              </a:spcAft>
              <a:buSzPts val="1100"/>
              <a:buNone/>
            </a:pPr>
            <a:r>
              <a:rPr lang="en-US" dirty="0"/>
              <a:t>Defense in Depth applies across all standards.</a:t>
            </a:r>
          </a:p>
          <a:p>
            <a:pPr marL="0" lvl="0" indent="0" algn="l" rtl="0">
              <a:lnSpc>
                <a:spcPct val="100000"/>
              </a:lnSpc>
              <a:spcBef>
                <a:spcPts val="0"/>
              </a:spcBef>
              <a:spcAft>
                <a:spcPts val="0"/>
              </a:spcAft>
              <a:buSzPts val="1100"/>
              <a:buNone/>
            </a:pPr>
            <a:r>
              <a:rPr lang="en-US" dirty="0"/>
              <a:t>This alignment ensures the policy is principle-driven and structured.</a:t>
            </a: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The ten coding standards are ranked by exploit likelihood and impact severity.</a:t>
            </a:r>
          </a:p>
          <a:p>
            <a:pPr marL="0" lvl="0" indent="0" algn="l" rtl="0">
              <a:lnSpc>
                <a:spcPct val="100000"/>
              </a:lnSpc>
              <a:spcBef>
                <a:spcPts val="0"/>
              </a:spcBef>
              <a:spcAft>
                <a:spcPts val="0"/>
              </a:spcAft>
              <a:buSzPts val="1100"/>
              <a:buNone/>
            </a:pPr>
            <a:r>
              <a:rPr lang="en-US" dirty="0"/>
              <a:t>Critical risks include SQL injection prevention and memory protection.</a:t>
            </a:r>
          </a:p>
          <a:p>
            <a:pPr marL="0" lvl="0" indent="0" algn="l" rtl="0">
              <a:lnSpc>
                <a:spcPct val="100000"/>
              </a:lnSpc>
              <a:spcBef>
                <a:spcPts val="0"/>
              </a:spcBef>
              <a:spcAft>
                <a:spcPts val="0"/>
              </a:spcAft>
              <a:buSzPts val="1100"/>
              <a:buNone/>
            </a:pPr>
            <a:r>
              <a:rPr lang="en-US" dirty="0"/>
              <a:t>Moderate risks include logging and exception control.</a:t>
            </a:r>
          </a:p>
          <a:p>
            <a:pPr marL="0" lvl="0" indent="0" algn="l" rtl="0">
              <a:lnSpc>
                <a:spcPct val="100000"/>
              </a:lnSpc>
              <a:spcBef>
                <a:spcPts val="0"/>
              </a:spcBef>
              <a:spcAft>
                <a:spcPts val="0"/>
              </a:spcAft>
              <a:buSzPts val="1100"/>
              <a:buNone/>
            </a:pPr>
            <a:r>
              <a:rPr lang="en-US" dirty="0"/>
              <a:t>Lower risks include assertion handling and concurrency safeguards.</a:t>
            </a:r>
          </a:p>
          <a:p>
            <a:pPr marL="0" lvl="0" indent="0" algn="l" rtl="0">
              <a:lnSpc>
                <a:spcPct val="100000"/>
              </a:lnSpc>
              <a:spcBef>
                <a:spcPts val="0"/>
              </a:spcBef>
              <a:spcAft>
                <a:spcPts val="0"/>
              </a:spcAft>
              <a:buSzPts val="1100"/>
              <a:buNone/>
            </a:pPr>
            <a:r>
              <a:rPr lang="en-IN" sz="1800" dirty="0">
                <a:effectLst/>
                <a:latin typeface="Cambria" panose="02040503050406030204" pitchFamily="18" charset="0"/>
                <a:ea typeface="MS Mincho" panose="02020609040205080304" pitchFamily="49" charset="-128"/>
                <a:cs typeface="Times New Roman" panose="02020603050405020304" pitchFamily="18" charset="0"/>
              </a:rPr>
              <a:t>This prioritization ensures the most dangerous vulnerabilities are addressed first.</a:t>
            </a:r>
            <a:endParaRPr lang="en-US"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Green Pace enforces encryption in three states:</a:t>
            </a:r>
          </a:p>
          <a:p>
            <a:pPr marL="0" lvl="0" indent="0" algn="l" rtl="0">
              <a:lnSpc>
                <a:spcPct val="100000"/>
              </a:lnSpc>
              <a:spcBef>
                <a:spcPts val="0"/>
              </a:spcBef>
              <a:spcAft>
                <a:spcPts val="0"/>
              </a:spcAft>
              <a:buSzPts val="1100"/>
              <a:buNone/>
            </a:pPr>
            <a:r>
              <a:rPr lang="en-US" dirty="0"/>
              <a:t>In transit using TLS,</a:t>
            </a:r>
          </a:p>
          <a:p>
            <a:pPr marL="0" lvl="0" indent="0" algn="l" rtl="0">
              <a:lnSpc>
                <a:spcPct val="100000"/>
              </a:lnSpc>
              <a:spcBef>
                <a:spcPts val="0"/>
              </a:spcBef>
              <a:spcAft>
                <a:spcPts val="0"/>
              </a:spcAft>
              <a:buSzPts val="1100"/>
              <a:buNone/>
            </a:pPr>
            <a:r>
              <a:rPr lang="en-US" dirty="0"/>
              <a:t>At rest using AES-256,</a:t>
            </a:r>
          </a:p>
          <a:p>
            <a:pPr marL="0" lvl="0" indent="0" algn="l" rtl="0">
              <a:lnSpc>
                <a:spcPct val="100000"/>
              </a:lnSpc>
              <a:spcBef>
                <a:spcPts val="0"/>
              </a:spcBef>
              <a:spcAft>
                <a:spcPts val="0"/>
              </a:spcAft>
              <a:buSzPts val="1100"/>
              <a:buNone/>
            </a:pPr>
            <a:r>
              <a:rPr lang="en-US" dirty="0"/>
              <a:t>In use through secure memory handling practices.</a:t>
            </a:r>
          </a:p>
          <a:p>
            <a:pPr marL="0" lvl="0" indent="0" algn="l" rtl="0">
              <a:lnSpc>
                <a:spcPct val="100000"/>
              </a:lnSpc>
              <a:spcBef>
                <a:spcPts val="0"/>
              </a:spcBef>
              <a:spcAft>
                <a:spcPts val="0"/>
              </a:spcAft>
              <a:buSzPts val="1100"/>
              <a:buNone/>
            </a:pPr>
            <a:r>
              <a:rPr lang="en-US" dirty="0"/>
              <a:t>Strong key management ensures controlled access and periodic rotation.</a:t>
            </a:r>
          </a:p>
          <a:p>
            <a:pPr marL="0" lvl="0" indent="0" algn="l" rtl="0">
              <a:lnSpc>
                <a:spcPct val="100000"/>
              </a:lnSpc>
              <a:spcBef>
                <a:spcPts val="0"/>
              </a:spcBef>
              <a:spcAft>
                <a:spcPts val="0"/>
              </a:spcAft>
              <a:buSzPts val="1100"/>
              <a:buNone/>
            </a:pPr>
            <a:r>
              <a:rPr lang="en-US" dirty="0"/>
              <a:t>Encryption protects confidentiality and regulatory compliance.</a:t>
            </a: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Authentication verifies identity using strong credential controls and multi-factor authentication.</a:t>
            </a:r>
          </a:p>
          <a:p>
            <a:pPr marL="0" lvl="0" indent="0" algn="l" rtl="0">
              <a:lnSpc>
                <a:spcPct val="100000"/>
              </a:lnSpc>
              <a:spcBef>
                <a:spcPts val="0"/>
              </a:spcBef>
              <a:spcAft>
                <a:spcPts val="0"/>
              </a:spcAft>
              <a:buSzPts val="1100"/>
              <a:buNone/>
            </a:pPr>
            <a:r>
              <a:rPr lang="en-US" dirty="0"/>
              <a:t>Authorization enforces role-based access and least privilege.</a:t>
            </a:r>
          </a:p>
          <a:p>
            <a:pPr marL="0" lvl="0" indent="0" algn="l" rtl="0">
              <a:lnSpc>
                <a:spcPct val="100000"/>
              </a:lnSpc>
              <a:spcBef>
                <a:spcPts val="0"/>
              </a:spcBef>
              <a:spcAft>
                <a:spcPts val="0"/>
              </a:spcAft>
              <a:buSzPts val="1100"/>
              <a:buNone/>
            </a:pPr>
            <a:r>
              <a:rPr lang="en-US" dirty="0"/>
              <a:t>Accounting ensures logging and monitoring for traceability.</a:t>
            </a:r>
          </a:p>
          <a:p>
            <a:pPr marL="0" lvl="0" indent="0" algn="l" rtl="0">
              <a:lnSpc>
                <a:spcPct val="100000"/>
              </a:lnSpc>
              <a:spcBef>
                <a:spcPts val="0"/>
              </a:spcBef>
              <a:spcAft>
                <a:spcPts val="0"/>
              </a:spcAft>
              <a:buSzPts val="1100"/>
              <a:buNone/>
            </a:pPr>
            <a:r>
              <a:rPr lang="en-US" dirty="0"/>
              <a:t>Together, these controls prevent unauthorized access and support auditing.</a:t>
            </a: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To validate secure coding practices, automated unit testing was applied.</a:t>
            </a:r>
          </a:p>
          <a:p>
            <a:pPr marL="0" lvl="0" indent="0" algn="l" rtl="0">
              <a:lnSpc>
                <a:spcPct val="100000"/>
              </a:lnSpc>
              <a:spcBef>
                <a:spcPts val="0"/>
              </a:spcBef>
              <a:spcAft>
                <a:spcPts val="0"/>
              </a:spcAft>
              <a:buSzPts val="1100"/>
              <a:buNone/>
            </a:pPr>
            <a:r>
              <a:rPr lang="en-US" dirty="0"/>
              <a:t>Tests verify proper input validation, boundary handling, and safe memory usage.</a:t>
            </a:r>
          </a:p>
          <a:p>
            <a:pPr marL="0" lvl="0" indent="0" algn="l" rtl="0">
              <a:lnSpc>
                <a:spcPct val="100000"/>
              </a:lnSpc>
              <a:spcBef>
                <a:spcPts val="0"/>
              </a:spcBef>
              <a:spcAft>
                <a:spcPts val="0"/>
              </a:spcAft>
              <a:buSzPts val="1100"/>
              <a:buNone/>
            </a:pPr>
            <a:r>
              <a:rPr lang="en-US" dirty="0"/>
              <a:t>Both positive and negative scenarios were tested to ensure secure behavior.</a:t>
            </a:r>
          </a:p>
          <a:p>
            <a:pPr marL="0" lvl="0" indent="0" algn="l" rtl="0">
              <a:lnSpc>
                <a:spcPct val="100000"/>
              </a:lnSpc>
              <a:spcBef>
                <a:spcPts val="0"/>
              </a:spcBef>
              <a:spcAft>
                <a:spcPts val="0"/>
              </a:spcAft>
              <a:buSzPts val="1100"/>
              <a:buNone/>
            </a:pPr>
            <a:r>
              <a:rPr lang="en-US" dirty="0"/>
              <a:t>This ensures vulnerabilities are detected early in development.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Security automation is embedded throughout the </a:t>
            </a:r>
            <a:r>
              <a:rPr lang="en-US" dirty="0" err="1"/>
              <a:t>DevSecOps</a:t>
            </a:r>
            <a:r>
              <a:rPr lang="en-US" dirty="0"/>
              <a:t> lifecycle.</a:t>
            </a:r>
          </a:p>
          <a:p>
            <a:pPr marL="0" lvl="0" indent="0" algn="l" rtl="0">
              <a:lnSpc>
                <a:spcPct val="100000"/>
              </a:lnSpc>
              <a:spcBef>
                <a:spcPts val="0"/>
              </a:spcBef>
              <a:spcAft>
                <a:spcPts val="0"/>
              </a:spcAft>
              <a:buSzPts val="1100"/>
              <a:buNone/>
            </a:pPr>
            <a:r>
              <a:rPr lang="en-US" dirty="0"/>
              <a:t>Static analysis tools scan source code during development.</a:t>
            </a:r>
          </a:p>
          <a:p>
            <a:pPr marL="0" lvl="0" indent="0" algn="l" rtl="0">
              <a:lnSpc>
                <a:spcPct val="100000"/>
              </a:lnSpc>
              <a:spcBef>
                <a:spcPts val="0"/>
              </a:spcBef>
              <a:spcAft>
                <a:spcPts val="0"/>
              </a:spcAft>
              <a:buSzPts val="1100"/>
              <a:buNone/>
            </a:pPr>
            <a:r>
              <a:rPr lang="en-US" dirty="0"/>
              <a:t>Dynamic testing validates runtime behavior.</a:t>
            </a:r>
          </a:p>
          <a:p>
            <a:pPr marL="0" lvl="0" indent="0" algn="l" rtl="0">
              <a:lnSpc>
                <a:spcPct val="100000"/>
              </a:lnSpc>
              <a:spcBef>
                <a:spcPts val="0"/>
              </a:spcBef>
              <a:spcAft>
                <a:spcPts val="0"/>
              </a:spcAft>
              <a:buSzPts val="1100"/>
              <a:buNone/>
            </a:pPr>
            <a:r>
              <a:rPr lang="en-US" dirty="0"/>
              <a:t>Monitoring tools provide continuous production oversight.</a:t>
            </a:r>
          </a:p>
          <a:p>
            <a:pPr marL="0" lvl="0" indent="0" algn="l" rtl="0">
              <a:lnSpc>
                <a:spcPct val="100000"/>
              </a:lnSpc>
              <a:spcBef>
                <a:spcPts val="0"/>
              </a:spcBef>
              <a:spcAft>
                <a:spcPts val="0"/>
              </a:spcAft>
              <a:buSzPts val="1100"/>
              <a:buNone/>
            </a:pPr>
            <a:r>
              <a:rPr lang="en-US" dirty="0"/>
              <a:t>Security is proactive and continuous, not reactive.</a:t>
            </a: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This diagram illustrates how security integrates into pre-production, transition, and production phases.</a:t>
            </a:r>
          </a:p>
          <a:p>
            <a:pPr marL="0" lvl="0" indent="0" algn="l" rtl="0">
              <a:lnSpc>
                <a:spcPct val="100000"/>
              </a:lnSpc>
              <a:spcBef>
                <a:spcPts val="0"/>
              </a:spcBef>
              <a:spcAft>
                <a:spcPts val="0"/>
              </a:spcAft>
              <a:buSzPts val="1100"/>
              <a:buNone/>
            </a:pPr>
            <a:r>
              <a:rPr lang="en-US" dirty="0"/>
              <a:t>Pre-production includes static analysis and secure builds.</a:t>
            </a:r>
          </a:p>
          <a:p>
            <a:pPr marL="0" lvl="0" indent="0" algn="l" rtl="0">
              <a:lnSpc>
                <a:spcPct val="100000"/>
              </a:lnSpc>
              <a:spcBef>
                <a:spcPts val="0"/>
              </a:spcBef>
              <a:spcAft>
                <a:spcPts val="0"/>
              </a:spcAft>
              <a:buSzPts val="1100"/>
              <a:buNone/>
            </a:pPr>
            <a:r>
              <a:rPr lang="en-US" dirty="0"/>
              <a:t>Transition includes dynamic testing and configuration validation.</a:t>
            </a:r>
          </a:p>
          <a:p>
            <a:pPr marL="0" lvl="0" indent="0" algn="l" rtl="0">
              <a:lnSpc>
                <a:spcPct val="100000"/>
              </a:lnSpc>
              <a:spcBef>
                <a:spcPts val="0"/>
              </a:spcBef>
              <a:spcAft>
                <a:spcPts val="0"/>
              </a:spcAft>
              <a:buSzPts val="1100"/>
              <a:buNone/>
            </a:pPr>
            <a:r>
              <a:rPr lang="en-US" dirty="0"/>
              <a:t>Production includes logging, monitoring, and intrusion detection.</a:t>
            </a:r>
          </a:p>
          <a:p>
            <a:pPr marL="0" lvl="0" indent="0" algn="l" rtl="0">
              <a:lnSpc>
                <a:spcPct val="100000"/>
              </a:lnSpc>
              <a:spcBef>
                <a:spcPts val="0"/>
              </a:spcBef>
              <a:spcAft>
                <a:spcPts val="0"/>
              </a:spcAft>
              <a:buSzPts val="1100"/>
              <a:buNone/>
            </a:pPr>
            <a:r>
              <a:rPr lang="en-US" dirty="0"/>
              <a:t>Automation ensures policy enforcement at every stage.</a:t>
            </a: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Acting now reduces exposure to exploitation, lowers long-term remediation costs, and strengthens compliance.</a:t>
            </a:r>
          </a:p>
          <a:p>
            <a:pPr marL="0" lvl="0" indent="0" algn="l" rtl="0">
              <a:lnSpc>
                <a:spcPct val="100000"/>
              </a:lnSpc>
              <a:spcBef>
                <a:spcPts val="0"/>
              </a:spcBef>
              <a:spcAft>
                <a:spcPts val="0"/>
              </a:spcAft>
              <a:buSzPts val="1100"/>
              <a:buNone/>
            </a:pPr>
            <a:r>
              <a:rPr lang="en-US" dirty="0"/>
              <a:t>Delaying action increases breach risk, reputational damage, and financial impact.</a:t>
            </a:r>
          </a:p>
          <a:p>
            <a:pPr marL="0" lvl="0" indent="0" algn="l" rtl="0">
              <a:lnSpc>
                <a:spcPct val="100000"/>
              </a:lnSpc>
              <a:spcBef>
                <a:spcPts val="0"/>
              </a:spcBef>
              <a:spcAft>
                <a:spcPts val="0"/>
              </a:spcAft>
              <a:buSzPts val="1100"/>
              <a:buNone/>
            </a:pPr>
            <a:r>
              <a:rPr lang="en-US" dirty="0"/>
              <a:t>Security investment today prevents higher cost tomorrow.</a:t>
            </a: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Current gaps include limited fuzz testing, lack of formal threat modeling for every release, and need for ongoing developer security training.</a:t>
            </a:r>
          </a:p>
          <a:p>
            <a:pPr marL="0" lvl="0" indent="0" algn="l" rtl="0">
              <a:lnSpc>
                <a:spcPct val="100000"/>
              </a:lnSpc>
              <a:spcBef>
                <a:spcPts val="0"/>
              </a:spcBef>
              <a:spcAft>
                <a:spcPts val="0"/>
              </a:spcAft>
              <a:buSzPts val="1100"/>
              <a:buNone/>
            </a:pPr>
            <a:r>
              <a:rPr lang="en-US" dirty="0"/>
              <a:t>Addressing these gaps will further mature the organization’s security posture.</a:t>
            </a: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Green Pace should formally adopt OWASP secure coding practices, SEI CERT C++ standards, and NIST security frameworks.</a:t>
            </a:r>
          </a:p>
          <a:p>
            <a:pPr marL="0" lvl="0" indent="0" algn="l" rtl="0">
              <a:lnSpc>
                <a:spcPct val="100000"/>
              </a:lnSpc>
              <a:spcBef>
                <a:spcPts val="0"/>
              </a:spcBef>
              <a:spcAft>
                <a:spcPts val="0"/>
              </a:spcAft>
              <a:buSzPts val="1100"/>
              <a:buNone/>
            </a:pPr>
            <a:r>
              <a:rPr lang="en-US" dirty="0"/>
              <a:t>Regular third-party audits and measurable security KPIs should be implemented.</a:t>
            </a:r>
          </a:p>
          <a:p>
            <a:pPr marL="0" lvl="0" indent="0" algn="l" rtl="0">
              <a:lnSpc>
                <a:spcPct val="100000"/>
              </a:lnSpc>
              <a:spcBef>
                <a:spcPts val="0"/>
              </a:spcBef>
              <a:spcAft>
                <a:spcPts val="0"/>
              </a:spcAft>
              <a:buSzPts val="1100"/>
              <a:buNone/>
            </a:pPr>
            <a:r>
              <a:rPr lang="en-US" dirty="0"/>
              <a:t>Security must remain an evolving process.</a:t>
            </a: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This presentation is based on industry standards including OWASP, SEI CERT, NIST, Microsoft Secure Development Lifecycle, and </a:t>
            </a:r>
            <a:r>
              <a:rPr lang="en-US" dirty="0" err="1"/>
              <a:t>Cppcheck</a:t>
            </a:r>
            <a:r>
              <a:rPr lang="en-US" dirty="0"/>
              <a:t> documentation.</a:t>
            </a:r>
          </a:p>
          <a:p>
            <a:pPr marL="0" lvl="0" indent="0" algn="l" rtl="0">
              <a:lnSpc>
                <a:spcPct val="100000"/>
              </a:lnSpc>
              <a:spcBef>
                <a:spcPts val="0"/>
              </a:spcBef>
              <a:spcAft>
                <a:spcPts val="0"/>
              </a:spcAft>
              <a:buSzPts val="1100"/>
              <a:buNone/>
            </a:pPr>
            <a:r>
              <a:rPr lang="en-US" dirty="0"/>
              <a:t>These frameworks guided the structure of the Green Pace Security Policy.</a:t>
            </a: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hyperlink" Target="https://owasp.org/www-project-devsecops-guideline/" TargetMode="External"/><Relationship Id="rId3" Type="http://schemas.openxmlformats.org/officeDocument/2006/relationships/notesSlide" Target="../notesSlides/notesSlide14.xml"/><Relationship Id="rId7" Type="http://schemas.openxmlformats.org/officeDocument/2006/relationships/hyperlink" Target="https://www.microsoft.com/en-us/securityengineering/sdl" TargetMode="Externa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hyperlink" Target="https://csrc.nist.gov/publications/detail/sp/800-53/rev-5/final" TargetMode="External"/><Relationship Id="rId5" Type="http://schemas.openxmlformats.org/officeDocument/2006/relationships/hyperlink" Target="https://wiki.sei.cmu.edu/confluence/display/cplusplus" TargetMode="External"/><Relationship Id="rId10" Type="http://schemas.openxmlformats.org/officeDocument/2006/relationships/image" Target="../media/image3.png"/><Relationship Id="rId4" Type="http://schemas.openxmlformats.org/officeDocument/2006/relationships/hyperlink" Target="https://owasp.org/www-project-top-ten/" TargetMode="External"/><Relationship Id="rId9" Type="http://schemas.openxmlformats.org/officeDocument/2006/relationships/hyperlink" Target="http://cppcheck.sourceforge.n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IN" dirty="0"/>
              <a:t>Jeremiah </a:t>
            </a:r>
            <a:r>
              <a:rPr lang="en-IN" dirty="0" err="1"/>
              <a:t>Longwa</a:t>
            </a:r>
            <a:endParaRPr dirty="0"/>
          </a:p>
          <a:p>
            <a:pPr marL="0" lvl="0" indent="0" algn="l" rtl="0">
              <a:lnSpc>
                <a:spcPct val="70000"/>
              </a:lnSpc>
              <a:spcBef>
                <a:spcPts val="1000"/>
              </a:spcBef>
              <a:spcAft>
                <a:spcPts val="0"/>
              </a:spcAft>
              <a:buClr>
                <a:schemeClr val="lt1"/>
              </a:buClr>
              <a:buSzPts val="1850"/>
              <a:buNone/>
            </a:pPr>
            <a:r>
              <a:rPr lang="en-IN" sz="1600" dirty="0"/>
              <a:t>CS 405 – Secure Coding</a:t>
            </a:r>
            <a:endParaRPr lang="en-IN" sz="1600" i="1" dirty="0"/>
          </a:p>
          <a:p>
            <a:pPr marL="0" lvl="0" indent="0" algn="l" rtl="0">
              <a:lnSpc>
                <a:spcPct val="70000"/>
              </a:lnSpc>
              <a:spcBef>
                <a:spcPts val="1000"/>
              </a:spcBef>
              <a:spcAft>
                <a:spcPts val="0"/>
              </a:spcAft>
              <a:buClr>
                <a:schemeClr val="lt1"/>
              </a:buClr>
              <a:buSzPts val="1850"/>
              <a:buNone/>
            </a:pPr>
            <a:r>
              <a:rPr lang="en-IN" sz="1600" dirty="0"/>
              <a:t>Date: February 22, 2026</a:t>
            </a:r>
            <a:endParaRPr sz="1850"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sp>
        <p:nvSpPr>
          <p:cNvPr id="152" name="Google Shape;152;p3"/>
          <p:cNvSpPr txBox="1">
            <a:spLocks noGrp="1"/>
          </p:cNvSpPr>
          <p:nvPr>
            <p:ph type="body" idx="1"/>
          </p:nvPr>
        </p:nvSpPr>
        <p:spPr>
          <a:xfrm>
            <a:off x="685800" y="2194560"/>
            <a:ext cx="6000750" cy="4024125"/>
          </a:xfrm>
          <a:prstGeom prst="rect">
            <a:avLst/>
          </a:prstGeom>
          <a:noFill/>
          <a:ln>
            <a:noFill/>
          </a:ln>
        </p:spPr>
        <p:txBody>
          <a:bodyPr spcFirstLastPara="1" wrap="square" lIns="91425" tIns="45700" rIns="91425" bIns="45700" anchor="t" anchorCtr="0">
            <a:normAutofit/>
          </a:bodyPr>
          <a:lstStyle/>
          <a:p>
            <a:pPr marL="342900" lvl="0" algn="l" rtl="0">
              <a:lnSpc>
                <a:spcPct val="90000"/>
              </a:lnSpc>
              <a:spcBef>
                <a:spcPts val="1000"/>
              </a:spcBef>
              <a:spcAft>
                <a:spcPts val="0"/>
              </a:spcAft>
              <a:buClr>
                <a:schemeClr val="lt1"/>
              </a:buClr>
              <a:buSzPts val="2200"/>
              <a:buFont typeface="Wingdings" panose="05000000000000000000" pitchFamily="2" charset="2"/>
              <a:buChar char="q"/>
            </a:pPr>
            <a:r>
              <a:rPr lang="en-US" dirty="0"/>
              <a:t>Standardizes secure coding and architectural practices</a:t>
            </a:r>
          </a:p>
          <a:p>
            <a:pPr marL="342900" lvl="0" algn="l" rtl="0">
              <a:lnSpc>
                <a:spcPct val="90000"/>
              </a:lnSpc>
              <a:spcBef>
                <a:spcPts val="1000"/>
              </a:spcBef>
              <a:spcAft>
                <a:spcPts val="0"/>
              </a:spcAft>
              <a:buClr>
                <a:schemeClr val="lt1"/>
              </a:buClr>
              <a:buSzPts val="2200"/>
              <a:buFont typeface="Wingdings" panose="05000000000000000000" pitchFamily="2" charset="2"/>
              <a:buChar char="q"/>
            </a:pPr>
            <a:r>
              <a:rPr lang="en-US" dirty="0"/>
              <a:t>Aligns development with defense-in-depth principles</a:t>
            </a:r>
          </a:p>
          <a:p>
            <a:pPr marL="342900" lvl="0" algn="l" rtl="0">
              <a:lnSpc>
                <a:spcPct val="90000"/>
              </a:lnSpc>
              <a:spcBef>
                <a:spcPts val="1000"/>
              </a:spcBef>
              <a:spcAft>
                <a:spcPts val="0"/>
              </a:spcAft>
              <a:buClr>
                <a:schemeClr val="lt1"/>
              </a:buClr>
              <a:buSzPts val="2200"/>
              <a:buFont typeface="Wingdings" panose="05000000000000000000" pitchFamily="2" charset="2"/>
              <a:buChar char="q"/>
            </a:pPr>
            <a:r>
              <a:rPr lang="en-US" dirty="0"/>
              <a:t>Integrates security into </a:t>
            </a:r>
            <a:r>
              <a:rPr lang="en-US" dirty="0" err="1"/>
              <a:t>DevSecOps</a:t>
            </a:r>
            <a:r>
              <a:rPr lang="en-US" dirty="0"/>
              <a:t> lifecycle</a:t>
            </a:r>
          </a:p>
          <a:p>
            <a:pPr marL="342900" lvl="0" algn="l" rtl="0">
              <a:lnSpc>
                <a:spcPct val="90000"/>
              </a:lnSpc>
              <a:spcBef>
                <a:spcPts val="1000"/>
              </a:spcBef>
              <a:spcAft>
                <a:spcPts val="0"/>
              </a:spcAft>
              <a:buClr>
                <a:schemeClr val="lt1"/>
              </a:buClr>
              <a:buSzPts val="2200"/>
              <a:buFont typeface="Wingdings" panose="05000000000000000000" pitchFamily="2" charset="2"/>
              <a:buChar char="q"/>
            </a:pPr>
            <a:r>
              <a:rPr lang="en-US" dirty="0"/>
              <a:t>Reduces attack surface and assumes vulnerability</a:t>
            </a:r>
          </a:p>
          <a:p>
            <a:pPr marL="342900" lvl="0" algn="l" rtl="0">
              <a:lnSpc>
                <a:spcPct val="90000"/>
              </a:lnSpc>
              <a:spcBef>
                <a:spcPts val="1000"/>
              </a:spcBef>
              <a:spcAft>
                <a:spcPts val="0"/>
              </a:spcAft>
              <a:buClr>
                <a:schemeClr val="lt1"/>
              </a:buClr>
              <a:buSzPts val="2200"/>
              <a:buFont typeface="Wingdings" panose="05000000000000000000" pitchFamily="2" charset="2"/>
              <a:buChar char="q"/>
            </a:pPr>
            <a:r>
              <a:rPr lang="en-US" dirty="0"/>
              <a:t>Supports automation and continuous testing</a:t>
            </a:r>
            <a:endParaRPr dirty="0"/>
          </a:p>
        </p:txBody>
      </p:sp>
      <p:pic>
        <p:nvPicPr>
          <p:cNvPr id="154" name="Google Shape;154;p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7"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a:extLst>
              <a:ext uri="{FF2B5EF4-FFF2-40B4-BE49-F238E27FC236}">
                <a16:creationId xmlns:a16="http://schemas.microsoft.com/office/drawing/2014/main" id="{09ACB80A-8B9F-84F5-4E12-4533CDB2F14B}"/>
              </a:ext>
            </a:extLst>
          </p:cNvPr>
          <p:cNvPicPr preferRelativeResize="0"/>
          <p:nvPr/>
        </p:nvPicPr>
        <p:blipFill rotWithShape="1">
          <a:blip r:embed="rId5">
            <a:alphaModFix/>
          </a:blip>
          <a:srcRect/>
          <a:stretch/>
        </p:blipFill>
        <p:spPr>
          <a:xfrm>
            <a:off x="7010400" y="2613919"/>
            <a:ext cx="4622800" cy="2807557"/>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graphicFrame>
        <p:nvGraphicFramePr>
          <p:cNvPr id="161" name="Google Shape;161;p4" descr="Alt text required"/>
          <p:cNvGraphicFramePr/>
          <p:nvPr>
            <p:extLst>
              <p:ext uri="{D42A27DB-BD31-4B8C-83A1-F6EECF244321}">
                <p14:modId xmlns:p14="http://schemas.microsoft.com/office/powerpoint/2010/main" val="3182690477"/>
              </p:ext>
            </p:extLst>
          </p:nvPr>
        </p:nvGraphicFramePr>
        <p:xfrm>
          <a:off x="1428750" y="2057401"/>
          <a:ext cx="9578375" cy="4042300"/>
        </p:xfrm>
        <a:graphic>
          <a:graphicData uri="http://schemas.openxmlformats.org/drawingml/2006/table">
            <a:tbl>
              <a:tblPr firstRow="1" firstCol="1">
                <a:noFill/>
                <a:tableStyleId>{802198C4-3087-4945-87E3-76CBB3509B7E}</a:tableStyleId>
              </a:tblPr>
              <a:tblGrid>
                <a:gridCol w="4927098">
                  <a:extLst>
                    <a:ext uri="{9D8B030D-6E8A-4147-A177-3AD203B41FA5}">
                      <a16:colId xmlns:a16="http://schemas.microsoft.com/office/drawing/2014/main" val="20000"/>
                    </a:ext>
                  </a:extLst>
                </a:gridCol>
                <a:gridCol w="4651277">
                  <a:extLst>
                    <a:ext uri="{9D8B030D-6E8A-4147-A177-3AD203B41FA5}">
                      <a16:colId xmlns:a16="http://schemas.microsoft.com/office/drawing/2014/main" val="20001"/>
                    </a:ext>
                  </a:extLst>
                </a:gridCol>
              </a:tblGrid>
              <a:tr h="2021150">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SQL Injection (STD-004)</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Improper Input Validation (STD-002)</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Memory Buffer Overflows (STD-005)</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Boundary Errors (STD-010)</a:t>
                      </a:r>
                      <a:endParaRPr sz="160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Exception Handling Failures (STD-007)</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Improper Data Type Usage (STD-001)</a:t>
                      </a:r>
                    </a:p>
                    <a:p>
                      <a:pPr marL="0" marR="0" lvl="0" indent="0" algn="ctr" rtl="0">
                        <a:lnSpc>
                          <a:spcPct val="100000"/>
                        </a:lnSpc>
                        <a:spcBef>
                          <a:spcPts val="0"/>
                        </a:spcBef>
                        <a:spcAft>
                          <a:spcPts val="0"/>
                        </a:spcAft>
                        <a:buClr>
                          <a:srgbClr val="000000"/>
                        </a:buClr>
                        <a:buSzPts val="3600"/>
                        <a:buFont typeface="Arial"/>
                        <a:buNone/>
                      </a:pPr>
                      <a:r>
                        <a:rPr lang="en-US" sz="1600" u="none" strike="noStrike" cap="none" dirty="0">
                          <a:solidFill>
                            <a:srgbClr val="FFD966"/>
                          </a:solidFill>
                        </a:rPr>
                        <a:t>Insecure String Handling (STD-003)</a:t>
                      </a:r>
                      <a:endParaRPr sz="16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2021150">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600" b="0" i="0" u="none" strike="noStrike" cap="none" dirty="0">
                          <a:solidFill>
                            <a:srgbClr val="FFD966"/>
                          </a:solidFill>
                          <a:latin typeface="Arial"/>
                          <a:cs typeface="Arial"/>
                          <a:sym typeface="Arial"/>
                        </a:rPr>
                        <a:t>Logging Misconfiguration (STD-008)</a:t>
                      </a:r>
                    </a:p>
                    <a:p>
                      <a:pPr marL="0" marR="0" lvl="0" indent="0" algn="ctr" rtl="0">
                        <a:lnSpc>
                          <a:spcPct val="100000"/>
                        </a:lnSpc>
                        <a:spcBef>
                          <a:spcPts val="0"/>
                        </a:spcBef>
                        <a:spcAft>
                          <a:spcPts val="0"/>
                        </a:spcAft>
                        <a:buClr>
                          <a:srgbClr val="000000"/>
                        </a:buClr>
                        <a:buSzPts val="3600"/>
                        <a:buFont typeface="Arial"/>
                        <a:buNone/>
                      </a:pPr>
                      <a:r>
                        <a:rPr lang="en-US" sz="1600" b="0" i="0" u="none" strike="noStrike" cap="none" dirty="0">
                          <a:solidFill>
                            <a:srgbClr val="FFD966"/>
                          </a:solidFill>
                          <a:latin typeface="Arial"/>
                          <a:cs typeface="Arial"/>
                          <a:sym typeface="Arial"/>
                        </a:rPr>
                        <a:t>Assertion Misuse (STD-006)</a:t>
                      </a:r>
                    </a:p>
                    <a:p>
                      <a:pPr marL="0" marR="0" lvl="0" indent="0" algn="ctr" rtl="0">
                        <a:lnSpc>
                          <a:spcPct val="100000"/>
                        </a:lnSpc>
                        <a:spcBef>
                          <a:spcPts val="0"/>
                        </a:spcBef>
                        <a:spcAft>
                          <a:spcPts val="0"/>
                        </a:spcAft>
                        <a:buClr>
                          <a:srgbClr val="000000"/>
                        </a:buClr>
                        <a:buSzPts val="3600"/>
                        <a:buFont typeface="Arial"/>
                        <a:buNone/>
                      </a:pPr>
                      <a:r>
                        <a:rPr lang="en-US" sz="1600" b="0" i="0" u="none" strike="noStrike" cap="none" dirty="0">
                          <a:solidFill>
                            <a:srgbClr val="FFD966"/>
                          </a:solidFill>
                          <a:latin typeface="Arial"/>
                          <a:cs typeface="Arial"/>
                          <a:sym typeface="Arial"/>
                        </a:rPr>
                        <a:t>Minor Concurrency Risks (STD-009)</a:t>
                      </a:r>
                      <a:endParaRPr sz="1600" b="0" i="0" u="none" strike="noStrike" cap="none" dirty="0">
                        <a:solidFill>
                          <a:srgbClr val="FFD966"/>
                        </a:solidFill>
                        <a:latin typeface="Arial"/>
                        <a:cs typeface="Arial"/>
                        <a:sym typeface="Aria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p>
                    <a:p>
                      <a:pPr marL="0" marR="0" lvl="0" indent="0" algn="ctr" rtl="0">
                        <a:lnSpc>
                          <a:spcPct val="100000"/>
                        </a:lnSpc>
                        <a:spcBef>
                          <a:spcPts val="0"/>
                        </a:spcBef>
                        <a:spcAft>
                          <a:spcPts val="0"/>
                        </a:spcAft>
                        <a:buClr>
                          <a:srgbClr val="000000"/>
                        </a:buClr>
                        <a:buSzPts val="3600"/>
                        <a:buFont typeface="Arial"/>
                        <a:buNone/>
                      </a:pPr>
                      <a:r>
                        <a:rPr lang="en-US" sz="1600" b="0" i="0" u="none" strike="noStrike" cap="none" dirty="0">
                          <a:solidFill>
                            <a:srgbClr val="FFD966"/>
                          </a:solidFill>
                          <a:latin typeface="Arial"/>
                          <a:cs typeface="Arial"/>
                          <a:sym typeface="Arial"/>
                        </a:rPr>
                        <a:t>Privilege</a:t>
                      </a:r>
                      <a:r>
                        <a:rPr lang="en-US" sz="1600" dirty="0"/>
                        <a:t> </a:t>
                      </a:r>
                      <a:r>
                        <a:rPr lang="en-US" sz="1600" b="0" i="0" u="none" strike="noStrike" cap="none" dirty="0">
                          <a:solidFill>
                            <a:srgbClr val="FFD966"/>
                          </a:solidFill>
                          <a:latin typeface="Arial"/>
                          <a:cs typeface="Arial"/>
                          <a:sym typeface="Arial"/>
                        </a:rPr>
                        <a:t>Escalation</a:t>
                      </a:r>
                      <a:br>
                        <a:rPr lang="en-US" sz="1600" dirty="0"/>
                      </a:br>
                      <a:r>
                        <a:rPr lang="en-US" sz="1600" b="0" i="0" u="none" strike="noStrike" cap="none" dirty="0">
                          <a:solidFill>
                            <a:srgbClr val="FFD966"/>
                          </a:solidFill>
                          <a:latin typeface="Arial"/>
                          <a:cs typeface="Arial"/>
                          <a:sym typeface="Arial"/>
                        </a:rPr>
                        <a:t>Cryptographic</a:t>
                      </a:r>
                      <a:r>
                        <a:rPr lang="en-US" sz="1600" dirty="0"/>
                        <a:t> </a:t>
                      </a:r>
                      <a:r>
                        <a:rPr lang="en-US" sz="1600" b="0" i="0" u="none" strike="noStrike" cap="none" dirty="0">
                          <a:solidFill>
                            <a:srgbClr val="FFD966"/>
                          </a:solidFill>
                          <a:latin typeface="Arial"/>
                          <a:cs typeface="Arial"/>
                          <a:sym typeface="Arial"/>
                        </a:rPr>
                        <a:t>Misconfiguration</a:t>
                      </a:r>
                      <a:br>
                        <a:rPr lang="en-US" sz="1600" dirty="0"/>
                      </a:br>
                      <a:r>
                        <a:rPr lang="en-US" sz="1600" b="0" i="0" u="none" strike="noStrike" cap="none" dirty="0">
                          <a:solidFill>
                            <a:srgbClr val="FFD966"/>
                          </a:solidFill>
                          <a:latin typeface="Arial"/>
                          <a:cs typeface="Arial"/>
                          <a:sym typeface="Arial"/>
                        </a:rPr>
                        <a:t>Unauthorized</a:t>
                      </a:r>
                      <a:r>
                        <a:rPr lang="en-US" sz="1600" dirty="0"/>
                        <a:t> </a:t>
                      </a:r>
                      <a:r>
                        <a:rPr lang="en-US" sz="1600" b="0" i="0" u="none" strike="noStrike" cap="none" dirty="0">
                          <a:solidFill>
                            <a:srgbClr val="FFD966"/>
                          </a:solidFill>
                          <a:latin typeface="Arial"/>
                          <a:cs typeface="Arial"/>
                          <a:sym typeface="Arial"/>
                        </a:rPr>
                        <a:t>Access</a:t>
                      </a:r>
                      <a:r>
                        <a:rPr lang="en-US" sz="1600" dirty="0"/>
                        <a:t> </a:t>
                      </a:r>
                      <a:r>
                        <a:rPr lang="en-US" sz="1600" b="0" i="0" u="none" strike="noStrike" cap="none" dirty="0">
                          <a:solidFill>
                            <a:srgbClr val="FFD966"/>
                          </a:solidFill>
                          <a:latin typeface="Arial"/>
                          <a:cs typeface="Arial"/>
                          <a:sym typeface="Arial"/>
                        </a:rPr>
                        <a:t>via</a:t>
                      </a:r>
                      <a:r>
                        <a:rPr lang="en-US" sz="1600" dirty="0"/>
                        <a:t> </a:t>
                      </a:r>
                      <a:r>
                        <a:rPr lang="en-US" sz="1600" b="0" i="0" u="none" strike="noStrike" cap="none" dirty="0">
                          <a:solidFill>
                            <a:srgbClr val="FFD966"/>
                          </a:solidFill>
                          <a:latin typeface="Arial"/>
                          <a:cs typeface="Arial"/>
                          <a:sym typeface="Arial"/>
                        </a:rPr>
                        <a:t>Broken</a:t>
                      </a:r>
                      <a:r>
                        <a:rPr lang="en-US" sz="1600" dirty="0"/>
                        <a:t> </a:t>
                      </a:r>
                      <a:r>
                        <a:rPr lang="en-US" sz="1600" b="0" i="0" u="none" strike="noStrike" cap="none" dirty="0">
                          <a:solidFill>
                            <a:srgbClr val="FFD966"/>
                          </a:solidFill>
                          <a:latin typeface="Arial"/>
                          <a:cs typeface="Arial"/>
                          <a:sym typeface="Arial"/>
                        </a:rPr>
                        <a:t>Authentication</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425450" y="2069502"/>
            <a:ext cx="11080750" cy="4426548"/>
          </a:xfrm>
          <a:prstGeom prst="rect">
            <a:avLst/>
          </a:prstGeom>
          <a:noFill/>
          <a:ln>
            <a:noFill/>
          </a:ln>
        </p:spPr>
        <p:txBody>
          <a:bodyPr spcFirstLastPara="1" wrap="square" lIns="91425" tIns="45700" rIns="91425" bIns="45700" anchor="t" anchorCtr="0">
            <a:noAutofit/>
          </a:bodyPr>
          <a:lstStyle/>
          <a:p>
            <a:pPr marL="228600" lvl="0" indent="-228600" algn="l" rtl="0">
              <a:lnSpc>
                <a:spcPct val="95000"/>
              </a:lnSpc>
              <a:spcBef>
                <a:spcPts val="0"/>
              </a:spcBef>
              <a:spcAft>
                <a:spcPts val="0"/>
              </a:spcAft>
              <a:buClr>
                <a:schemeClr val="lt1"/>
              </a:buClr>
              <a:buSzPts val="2200"/>
              <a:buChar char="•"/>
            </a:pPr>
            <a:r>
              <a:rPr lang="en-IN" sz="1600" dirty="0">
                <a:latin typeface="Century Gothic" panose="020B0502020202020204" pitchFamily="34" charset="0"/>
              </a:rPr>
              <a:t>Least Privilege</a:t>
            </a:r>
          </a:p>
          <a:p>
            <a:pPr marL="457200" lvl="1" indent="0">
              <a:lnSpc>
                <a:spcPct val="95000"/>
              </a:lnSpc>
              <a:spcBef>
                <a:spcPts val="0"/>
              </a:spcBef>
              <a:buSzPts val="2200"/>
              <a:buNone/>
            </a:pPr>
            <a:r>
              <a:rPr lang="en-IN" sz="1600" dirty="0">
                <a:latin typeface="Century Gothic" panose="020B0502020202020204" pitchFamily="34" charset="0"/>
              </a:rPr>
              <a:t>STD-004 (SQL Injection), STD-002 (Input Validation), STD-010 (Boundary Checking)</a:t>
            </a:r>
          </a:p>
          <a:p>
            <a:pPr marL="228600" lvl="0" indent="-228600" algn="l" rtl="0">
              <a:lnSpc>
                <a:spcPct val="95000"/>
              </a:lnSpc>
              <a:spcBef>
                <a:spcPts val="0"/>
              </a:spcBef>
              <a:spcAft>
                <a:spcPts val="0"/>
              </a:spcAft>
              <a:buClr>
                <a:schemeClr val="lt1"/>
              </a:buClr>
              <a:buSzPts val="2200"/>
              <a:buChar char="•"/>
            </a:pPr>
            <a:r>
              <a:rPr lang="en-IN" sz="1600" dirty="0" err="1">
                <a:latin typeface="Century Gothic" panose="020B0502020202020204" pitchFamily="34" charset="0"/>
              </a:rPr>
              <a:t>Defense</a:t>
            </a:r>
            <a:r>
              <a:rPr lang="en-IN" sz="1600" dirty="0">
                <a:latin typeface="Century Gothic" panose="020B0502020202020204" pitchFamily="34" charset="0"/>
              </a:rPr>
              <a:t> in Depth</a:t>
            </a:r>
          </a:p>
          <a:p>
            <a:pPr marL="457200" lvl="1" indent="0">
              <a:lnSpc>
                <a:spcPct val="95000"/>
              </a:lnSpc>
              <a:spcBef>
                <a:spcPts val="0"/>
              </a:spcBef>
              <a:buSzPts val="2200"/>
              <a:buNone/>
            </a:pPr>
            <a:r>
              <a:rPr lang="en-IN" sz="1600" dirty="0">
                <a:latin typeface="Century Gothic" panose="020B0502020202020204" pitchFamily="34" charset="0"/>
              </a:rPr>
              <a:t>All 10 Standards</a:t>
            </a:r>
          </a:p>
          <a:p>
            <a:pPr marL="228600" lvl="0" indent="-228600" algn="l" rtl="0">
              <a:lnSpc>
                <a:spcPct val="95000"/>
              </a:lnSpc>
              <a:spcBef>
                <a:spcPts val="0"/>
              </a:spcBef>
              <a:spcAft>
                <a:spcPts val="0"/>
              </a:spcAft>
              <a:buClr>
                <a:schemeClr val="lt1"/>
              </a:buClr>
              <a:buSzPts val="2200"/>
              <a:buChar char="•"/>
            </a:pPr>
            <a:r>
              <a:rPr lang="en-IN" sz="1600" dirty="0">
                <a:latin typeface="Century Gothic" panose="020B0502020202020204" pitchFamily="34" charset="0"/>
              </a:rPr>
              <a:t>Fail Securely</a:t>
            </a:r>
          </a:p>
          <a:p>
            <a:pPr marL="457200" lvl="1" indent="0">
              <a:lnSpc>
                <a:spcPct val="95000"/>
              </a:lnSpc>
              <a:spcBef>
                <a:spcPts val="0"/>
              </a:spcBef>
              <a:buSzPts val="2200"/>
              <a:buNone/>
            </a:pPr>
            <a:r>
              <a:rPr lang="en-IN" sz="1600" dirty="0">
                <a:latin typeface="Century Gothic" panose="020B0502020202020204" pitchFamily="34" charset="0"/>
              </a:rPr>
              <a:t>STD-007 (Exception Handling), STD-006 (Assertions)</a:t>
            </a:r>
          </a:p>
          <a:p>
            <a:pPr marL="228600" lvl="0" indent="-228600" algn="l" rtl="0">
              <a:lnSpc>
                <a:spcPct val="95000"/>
              </a:lnSpc>
              <a:spcBef>
                <a:spcPts val="0"/>
              </a:spcBef>
              <a:spcAft>
                <a:spcPts val="0"/>
              </a:spcAft>
              <a:buClr>
                <a:schemeClr val="lt1"/>
              </a:buClr>
              <a:buSzPts val="2200"/>
              <a:buChar char="•"/>
            </a:pPr>
            <a:r>
              <a:rPr lang="en-IN" sz="1600" dirty="0">
                <a:latin typeface="Century Gothic" panose="020B0502020202020204" pitchFamily="34" charset="0"/>
              </a:rPr>
              <a:t>Minimize Attack Surface</a:t>
            </a:r>
          </a:p>
          <a:p>
            <a:pPr marL="457200" lvl="1" indent="0">
              <a:lnSpc>
                <a:spcPct val="95000"/>
              </a:lnSpc>
              <a:spcBef>
                <a:spcPts val="0"/>
              </a:spcBef>
              <a:buSzPts val="2200"/>
              <a:buNone/>
            </a:pPr>
            <a:r>
              <a:rPr lang="en-IN" sz="1600" dirty="0">
                <a:latin typeface="Century Gothic" panose="020B0502020202020204" pitchFamily="34" charset="0"/>
              </a:rPr>
              <a:t>STD-002 (Input Validation), STD-003 (String Safety), STD-010 (Boundary Checking)</a:t>
            </a:r>
          </a:p>
          <a:p>
            <a:pPr marL="228600" lvl="0" indent="-228600" algn="l" rtl="0">
              <a:lnSpc>
                <a:spcPct val="95000"/>
              </a:lnSpc>
              <a:spcBef>
                <a:spcPts val="0"/>
              </a:spcBef>
              <a:spcAft>
                <a:spcPts val="0"/>
              </a:spcAft>
              <a:buClr>
                <a:schemeClr val="lt1"/>
              </a:buClr>
              <a:buSzPts val="2200"/>
              <a:buChar char="•"/>
            </a:pPr>
            <a:r>
              <a:rPr lang="en-IN" sz="1600" dirty="0">
                <a:latin typeface="Century Gothic" panose="020B0502020202020204" pitchFamily="34" charset="0"/>
              </a:rPr>
              <a:t>Secure by Default</a:t>
            </a:r>
          </a:p>
          <a:p>
            <a:pPr marL="457200" lvl="1" indent="0">
              <a:lnSpc>
                <a:spcPct val="95000"/>
              </a:lnSpc>
              <a:spcBef>
                <a:spcPts val="0"/>
              </a:spcBef>
              <a:buSzPts val="2200"/>
              <a:buNone/>
            </a:pPr>
            <a:r>
              <a:rPr lang="en-IN" sz="1600" dirty="0">
                <a:latin typeface="Century Gothic" panose="020B0502020202020204" pitchFamily="34" charset="0"/>
              </a:rPr>
              <a:t>STD-001 (Data Type Correctness), STD-005 (Memory Protection)</a:t>
            </a:r>
          </a:p>
          <a:p>
            <a:pPr marL="228600" lvl="0" indent="-228600" algn="l" rtl="0">
              <a:lnSpc>
                <a:spcPct val="95000"/>
              </a:lnSpc>
              <a:spcBef>
                <a:spcPts val="0"/>
              </a:spcBef>
              <a:spcAft>
                <a:spcPts val="0"/>
              </a:spcAft>
              <a:buClr>
                <a:schemeClr val="lt1"/>
              </a:buClr>
              <a:buSzPts val="2200"/>
              <a:buChar char="•"/>
            </a:pPr>
            <a:r>
              <a:rPr lang="en-IN" sz="1600" dirty="0">
                <a:latin typeface="Century Gothic" panose="020B0502020202020204" pitchFamily="34" charset="0"/>
              </a:rPr>
              <a:t>Separation of Duties</a:t>
            </a:r>
          </a:p>
          <a:p>
            <a:pPr marL="457200" lvl="1" indent="0">
              <a:lnSpc>
                <a:spcPct val="95000"/>
              </a:lnSpc>
              <a:spcBef>
                <a:spcPts val="0"/>
              </a:spcBef>
              <a:buSzPts val="2200"/>
              <a:buNone/>
            </a:pPr>
            <a:r>
              <a:rPr lang="en-IN" sz="1600" dirty="0">
                <a:latin typeface="Century Gothic" panose="020B0502020202020204" pitchFamily="34" charset="0"/>
              </a:rPr>
              <a:t>STD-004 (SQL Injection), STD-008 (Logging)</a:t>
            </a:r>
          </a:p>
          <a:p>
            <a:pPr marL="228600" lvl="0" indent="-228600" algn="l" rtl="0">
              <a:lnSpc>
                <a:spcPct val="95000"/>
              </a:lnSpc>
              <a:spcBef>
                <a:spcPts val="0"/>
              </a:spcBef>
              <a:spcAft>
                <a:spcPts val="0"/>
              </a:spcAft>
              <a:buClr>
                <a:schemeClr val="lt1"/>
              </a:buClr>
              <a:buSzPts val="2200"/>
              <a:buChar char="•"/>
            </a:pPr>
            <a:r>
              <a:rPr lang="en-IN" sz="1600" dirty="0">
                <a:latin typeface="Century Gothic" panose="020B0502020202020204" pitchFamily="34" charset="0"/>
              </a:rPr>
              <a:t>Input Validation</a:t>
            </a:r>
          </a:p>
          <a:p>
            <a:pPr marL="457200" lvl="1" indent="0">
              <a:lnSpc>
                <a:spcPct val="95000"/>
              </a:lnSpc>
              <a:spcBef>
                <a:spcPts val="0"/>
              </a:spcBef>
              <a:buSzPts val="2200"/>
              <a:buNone/>
            </a:pPr>
            <a:r>
              <a:rPr lang="en-IN" sz="1600" dirty="0">
                <a:latin typeface="Century Gothic" panose="020B0502020202020204" pitchFamily="34" charset="0"/>
              </a:rPr>
              <a:t>STD-002 (Improper Input Validation), STD-003 (String Safety)</a:t>
            </a:r>
          </a:p>
          <a:p>
            <a:pPr marL="228600" lvl="0" indent="-228600" algn="l" rtl="0">
              <a:lnSpc>
                <a:spcPct val="95000"/>
              </a:lnSpc>
              <a:spcBef>
                <a:spcPts val="0"/>
              </a:spcBef>
              <a:spcAft>
                <a:spcPts val="0"/>
              </a:spcAft>
              <a:buClr>
                <a:schemeClr val="lt1"/>
              </a:buClr>
              <a:buSzPts val="2200"/>
              <a:buChar char="•"/>
            </a:pPr>
            <a:r>
              <a:rPr lang="en-IN" sz="1600" dirty="0">
                <a:latin typeface="Century Gothic" panose="020B0502020202020204" pitchFamily="34" charset="0"/>
              </a:rPr>
              <a:t>Accountability</a:t>
            </a:r>
          </a:p>
          <a:p>
            <a:pPr marL="457200" lvl="1" indent="0">
              <a:lnSpc>
                <a:spcPct val="95000"/>
              </a:lnSpc>
              <a:spcBef>
                <a:spcPts val="0"/>
              </a:spcBef>
              <a:buSzPts val="2200"/>
              <a:buNone/>
            </a:pPr>
            <a:r>
              <a:rPr lang="en-IN" sz="1600" dirty="0">
                <a:latin typeface="Century Gothic" panose="020B0502020202020204" pitchFamily="34" charset="0"/>
              </a:rPr>
              <a:t>STD-008 (Logging), STD-009 (Concurrency Controls)</a:t>
            </a:r>
          </a:p>
          <a:p>
            <a:pPr marL="228600" lvl="0" indent="-228600" algn="l" rtl="0">
              <a:lnSpc>
                <a:spcPct val="95000"/>
              </a:lnSpc>
              <a:spcBef>
                <a:spcPts val="0"/>
              </a:spcBef>
              <a:spcAft>
                <a:spcPts val="0"/>
              </a:spcAft>
              <a:buClr>
                <a:schemeClr val="lt1"/>
              </a:buClr>
              <a:buSzPts val="2200"/>
              <a:buChar char="•"/>
            </a:pPr>
            <a:r>
              <a:rPr lang="en-IN" sz="1600" dirty="0">
                <a:latin typeface="Century Gothic" panose="020B0502020202020204" pitchFamily="34" charset="0"/>
              </a:rPr>
              <a:t>Encryption &amp; Confidentiality</a:t>
            </a:r>
          </a:p>
          <a:p>
            <a:pPr marL="457200" lvl="1" indent="0">
              <a:lnSpc>
                <a:spcPct val="95000"/>
              </a:lnSpc>
              <a:spcBef>
                <a:spcPts val="0"/>
              </a:spcBef>
              <a:buSzPts val="2200"/>
              <a:buNone/>
            </a:pPr>
            <a:r>
              <a:rPr lang="en-IN" sz="1600" dirty="0">
                <a:latin typeface="Century Gothic" panose="020B0502020202020204" pitchFamily="34" charset="0"/>
              </a:rPr>
              <a:t>Encryption Policies + STD-004</a:t>
            </a:r>
          </a:p>
          <a:p>
            <a:pPr marL="228600" lvl="0" indent="-228600" algn="l" rtl="0">
              <a:lnSpc>
                <a:spcPct val="95000"/>
              </a:lnSpc>
              <a:spcBef>
                <a:spcPts val="0"/>
              </a:spcBef>
              <a:spcAft>
                <a:spcPts val="0"/>
              </a:spcAft>
              <a:buClr>
                <a:schemeClr val="lt1"/>
              </a:buClr>
              <a:buSzPts val="2200"/>
              <a:buChar char="•"/>
            </a:pPr>
            <a:r>
              <a:rPr lang="en-IN" sz="1600" dirty="0">
                <a:latin typeface="Century Gothic" panose="020B0502020202020204" pitchFamily="34" charset="0"/>
              </a:rPr>
              <a:t>Continuous Monitoring &amp; Improvement</a:t>
            </a:r>
          </a:p>
          <a:p>
            <a:pPr marL="457200" lvl="1" indent="0">
              <a:lnSpc>
                <a:spcPct val="95000"/>
              </a:lnSpc>
              <a:spcBef>
                <a:spcPts val="0"/>
              </a:spcBef>
              <a:buSzPts val="2200"/>
              <a:buNone/>
            </a:pPr>
            <a:r>
              <a:rPr lang="en-IN" sz="1600" dirty="0">
                <a:latin typeface="Century Gothic" panose="020B0502020202020204" pitchFamily="34" charset="0"/>
              </a:rPr>
              <a:t>STD-008 (Logging), Automation &amp; Unit Testing</a:t>
            </a:r>
            <a:endParaRPr sz="1600" dirty="0">
              <a:latin typeface="Century Gothic" panose="020B0502020202020204" pitchFamily="34" charset="0"/>
            </a:endParaRP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20000"/>
          </a:bodyPr>
          <a:lstStyle/>
          <a:p>
            <a:pPr marL="114300" indent="0">
              <a:buNone/>
            </a:pPr>
            <a:r>
              <a:rPr lang="en-IN" b="1" dirty="0"/>
              <a:t>High Priority (Critical Risk – Immediate Mitigation Required)</a:t>
            </a:r>
            <a:endParaRPr lang="en-IN" dirty="0"/>
          </a:p>
          <a:p>
            <a:pPr lvl="1">
              <a:buFont typeface="+mj-lt"/>
              <a:buAutoNum type="arabicPeriod"/>
            </a:pPr>
            <a:r>
              <a:rPr lang="en-IN" dirty="0"/>
              <a:t>STD-004 – SQL Injection Prevention</a:t>
            </a:r>
          </a:p>
          <a:p>
            <a:pPr lvl="1">
              <a:buFont typeface="+mj-lt"/>
              <a:buAutoNum type="arabicPeriod"/>
            </a:pPr>
            <a:r>
              <a:rPr lang="en-IN" dirty="0"/>
              <a:t>STD-002 – Input Validation</a:t>
            </a:r>
          </a:p>
          <a:p>
            <a:pPr lvl="1">
              <a:buFont typeface="+mj-lt"/>
              <a:buAutoNum type="arabicPeriod"/>
            </a:pPr>
            <a:r>
              <a:rPr lang="en-IN" dirty="0"/>
              <a:t>STD-005 – Memory Safety / Buffer Overflow Prevention</a:t>
            </a:r>
          </a:p>
          <a:p>
            <a:pPr lvl="1">
              <a:buFont typeface="+mj-lt"/>
              <a:buAutoNum type="arabicPeriod"/>
            </a:pPr>
            <a:r>
              <a:rPr lang="en-IN" dirty="0"/>
              <a:t>STD-010 – Boundary Checking</a:t>
            </a:r>
          </a:p>
          <a:p>
            <a:pPr marL="114300" indent="0">
              <a:buNone/>
            </a:pPr>
            <a:r>
              <a:rPr lang="en-IN" b="1" dirty="0"/>
              <a:t>Medium Priority (Significant Impact – Controlled Mitigation)</a:t>
            </a:r>
          </a:p>
          <a:p>
            <a:pPr marL="1028700" lvl="1" indent="-457200">
              <a:buFont typeface="+mj-lt"/>
              <a:buAutoNum type="arabicPeriod"/>
            </a:pPr>
            <a:r>
              <a:rPr lang="en-IN" dirty="0"/>
              <a:t>STD-007 – Secure Exception Handling</a:t>
            </a:r>
          </a:p>
          <a:p>
            <a:pPr marL="1028700" lvl="1" indent="-457200">
              <a:buFont typeface="+mj-lt"/>
              <a:buAutoNum type="arabicPeriod"/>
            </a:pPr>
            <a:r>
              <a:rPr lang="en-IN" dirty="0"/>
              <a:t>STD-003 – Safe String Handling</a:t>
            </a:r>
          </a:p>
          <a:p>
            <a:pPr marL="1028700" lvl="1" indent="-457200">
              <a:buFont typeface="+mj-lt"/>
              <a:buAutoNum type="arabicPeriod"/>
            </a:pPr>
            <a:r>
              <a:rPr lang="en-IN" dirty="0"/>
              <a:t>STD-008 – Secure Logging</a:t>
            </a:r>
          </a:p>
          <a:p>
            <a:pPr marL="114300" indent="0">
              <a:buNone/>
            </a:pPr>
            <a:r>
              <a:rPr lang="en-IN" b="1" dirty="0"/>
              <a:t>Lower Priority (Operational Risk – Monitor &amp; Improve)</a:t>
            </a:r>
          </a:p>
          <a:p>
            <a:pPr marL="1028700" lvl="1" indent="-457200">
              <a:buFont typeface="+mj-lt"/>
              <a:buAutoNum type="arabicPeriod"/>
            </a:pPr>
            <a:r>
              <a:rPr lang="en-IN" dirty="0"/>
              <a:t>STD-006 – Assertion Usage Policy</a:t>
            </a:r>
          </a:p>
          <a:p>
            <a:pPr marL="1028700" lvl="1" indent="-457200">
              <a:buFont typeface="+mj-lt"/>
              <a:buAutoNum type="arabicPeriod"/>
            </a:pPr>
            <a:r>
              <a:rPr lang="en-IN" dirty="0"/>
              <a:t>STD-009 – Concurrency Safety</a:t>
            </a:r>
          </a:p>
          <a:p>
            <a:pPr marL="1028700" lvl="1" indent="-457200">
              <a:buFont typeface="+mj-lt"/>
              <a:buAutoNum type="arabicPeriod"/>
            </a:pPr>
            <a:r>
              <a:rPr lang="en-IN" dirty="0"/>
              <a:t>STD-001 – Data Type Safety</a:t>
            </a:r>
          </a:p>
          <a:p>
            <a:pPr marL="0" lvl="0" indent="0" algn="l" rtl="0">
              <a:lnSpc>
                <a:spcPct val="90000"/>
              </a:lnSpc>
              <a:spcBef>
                <a:spcPts val="0"/>
              </a:spcBef>
              <a:spcAft>
                <a:spcPts val="0"/>
              </a:spcAft>
              <a:buClr>
                <a:schemeClr val="lt1"/>
              </a:buClr>
              <a:buSzPts val="2000"/>
              <a:buNone/>
            </a:pP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1934209"/>
            <a:ext cx="5181600" cy="4655541"/>
          </a:xfrm>
          <a:prstGeom prst="rect">
            <a:avLst/>
          </a:prstGeom>
          <a:noFill/>
          <a:ln>
            <a:noFill/>
          </a:ln>
        </p:spPr>
        <p:txBody>
          <a:bodyPr spcFirstLastPara="1" wrap="square" lIns="91425" tIns="45700" rIns="91425" bIns="45700" anchor="t" anchorCtr="0">
            <a:normAutofit/>
          </a:bodyPr>
          <a:lstStyle/>
          <a:p>
            <a:pPr marL="114300" indent="0">
              <a:buNone/>
            </a:pPr>
            <a:r>
              <a:rPr lang="en-US" sz="1200" b="1" dirty="0"/>
              <a:t>Encryption in Transit</a:t>
            </a:r>
          </a:p>
          <a:p>
            <a:pPr lvl="1"/>
            <a:r>
              <a:rPr lang="en-US" sz="1000" dirty="0"/>
              <a:t>All network communication must use TLS 1.2 or higher</a:t>
            </a:r>
          </a:p>
          <a:p>
            <a:pPr lvl="1"/>
            <a:r>
              <a:rPr lang="en-US" sz="1000" dirty="0"/>
              <a:t>HTTPS required for all APIs</a:t>
            </a:r>
          </a:p>
          <a:p>
            <a:pPr lvl="1"/>
            <a:r>
              <a:rPr lang="en-US" sz="1000" dirty="0"/>
              <a:t>Secure sockets enforced between internal services</a:t>
            </a:r>
          </a:p>
          <a:p>
            <a:pPr lvl="1"/>
            <a:r>
              <a:rPr lang="en-US" sz="1000" dirty="0"/>
              <a:t>Certificate validation required (no self-signed certs in production)</a:t>
            </a:r>
          </a:p>
          <a:p>
            <a:pPr marL="114300" indent="0">
              <a:buNone/>
            </a:pPr>
            <a:r>
              <a:rPr lang="en-US" sz="1200" b="1" dirty="0"/>
              <a:t>Encryption at Rest</a:t>
            </a:r>
          </a:p>
          <a:p>
            <a:pPr lvl="1"/>
            <a:r>
              <a:rPr lang="en-US" sz="1000" dirty="0"/>
              <a:t>AES-256 encryption for databases and file storage</a:t>
            </a:r>
          </a:p>
          <a:p>
            <a:pPr lvl="1"/>
            <a:r>
              <a:rPr lang="en-US" sz="1000" dirty="0"/>
              <a:t>Full disk encryption on servers and developer machines</a:t>
            </a:r>
          </a:p>
          <a:p>
            <a:pPr lvl="1"/>
            <a:r>
              <a:rPr lang="en-US" sz="1000" dirty="0"/>
              <a:t>Encrypted backups with secure key management</a:t>
            </a:r>
          </a:p>
          <a:p>
            <a:pPr lvl="1"/>
            <a:r>
              <a:rPr lang="en-US" sz="1000" dirty="0"/>
              <a:t>No plaintext storage of credentials or sensitive data</a:t>
            </a:r>
          </a:p>
          <a:p>
            <a:pPr marL="114300" indent="0">
              <a:buNone/>
            </a:pPr>
            <a:r>
              <a:rPr lang="en-US" sz="1200" b="1" dirty="0"/>
              <a:t>Encryption in Use</a:t>
            </a:r>
          </a:p>
          <a:p>
            <a:pPr lvl="1"/>
            <a:r>
              <a:rPr lang="en-US" sz="1000" dirty="0"/>
              <a:t>Sensitive data decrypted only when required</a:t>
            </a:r>
          </a:p>
          <a:p>
            <a:pPr lvl="1"/>
            <a:r>
              <a:rPr lang="en-US" sz="1000" dirty="0"/>
              <a:t>Minimize memory exposure of plaintext data</a:t>
            </a:r>
          </a:p>
          <a:p>
            <a:pPr lvl="1"/>
            <a:r>
              <a:rPr lang="en-US" sz="1000" dirty="0"/>
              <a:t>Secure memory handling practices</a:t>
            </a:r>
          </a:p>
          <a:p>
            <a:pPr lvl="1"/>
            <a:r>
              <a:rPr lang="en-US" sz="1000" dirty="0"/>
              <a:t>Avoid logging decrypted sensitive information</a:t>
            </a:r>
          </a:p>
          <a:p>
            <a:pPr marL="114300" indent="0">
              <a:buNone/>
            </a:pPr>
            <a:r>
              <a:rPr lang="en-US" sz="1200" b="1" dirty="0"/>
              <a:t>Key Management</a:t>
            </a:r>
          </a:p>
          <a:p>
            <a:pPr lvl="1"/>
            <a:r>
              <a:rPr lang="en-US" sz="1000" dirty="0"/>
              <a:t>Centralized key vault</a:t>
            </a:r>
          </a:p>
          <a:p>
            <a:pPr lvl="1"/>
            <a:r>
              <a:rPr lang="en-US" sz="1000" dirty="0"/>
              <a:t>Role-based access to encryption keys</a:t>
            </a:r>
          </a:p>
          <a:p>
            <a:pPr lvl="1"/>
            <a:r>
              <a:rPr lang="en-US" sz="1000" dirty="0"/>
              <a:t>Key rotation every 90 days</a:t>
            </a:r>
          </a:p>
          <a:p>
            <a:pPr lvl="1"/>
            <a:r>
              <a:rPr lang="en-US" sz="1000" dirty="0"/>
              <a:t>Immediate revocation upon compromise</a:t>
            </a:r>
            <a:endParaRPr sz="1400"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70000" lnSpcReduction="20000"/>
          </a:bodyPr>
          <a:lstStyle/>
          <a:p>
            <a:pPr marL="114300" indent="0">
              <a:buNone/>
            </a:pPr>
            <a:r>
              <a:rPr lang="en-IN" b="1" dirty="0"/>
              <a:t>Authentication</a:t>
            </a:r>
          </a:p>
          <a:p>
            <a:pPr lvl="1"/>
            <a:r>
              <a:rPr lang="en-IN" dirty="0"/>
              <a:t>Multi-Factor Authentication (MFA) required for admin accounts</a:t>
            </a:r>
          </a:p>
          <a:p>
            <a:pPr lvl="1"/>
            <a:r>
              <a:rPr lang="en-IN" dirty="0"/>
              <a:t>Strong password policy (minimum length, complexity, expiration)</a:t>
            </a:r>
          </a:p>
          <a:p>
            <a:pPr lvl="1"/>
            <a:r>
              <a:rPr lang="en-IN" dirty="0"/>
              <a:t>Secure password hashing (</a:t>
            </a:r>
            <a:r>
              <a:rPr lang="en-IN" dirty="0" err="1"/>
              <a:t>bcrypt</a:t>
            </a:r>
            <a:r>
              <a:rPr lang="en-IN" dirty="0"/>
              <a:t> / PBKDF2)</a:t>
            </a:r>
          </a:p>
          <a:p>
            <a:pPr lvl="1"/>
            <a:r>
              <a:rPr lang="en-IN" dirty="0"/>
              <a:t>Account lockout after repeated failed attempts</a:t>
            </a:r>
          </a:p>
          <a:p>
            <a:pPr lvl="1"/>
            <a:r>
              <a:rPr lang="en-IN" dirty="0"/>
              <a:t>No hardcoded credentials in source code</a:t>
            </a:r>
          </a:p>
          <a:p>
            <a:pPr marL="114300" indent="0">
              <a:buNone/>
            </a:pPr>
            <a:r>
              <a:rPr lang="en-IN" b="1" dirty="0"/>
              <a:t>Authorization</a:t>
            </a:r>
          </a:p>
          <a:p>
            <a:pPr lvl="1"/>
            <a:r>
              <a:rPr lang="en-IN" dirty="0"/>
              <a:t>Role-Based Access Control (RBAC)</a:t>
            </a:r>
          </a:p>
          <a:p>
            <a:pPr lvl="1"/>
            <a:r>
              <a:rPr lang="en-IN" dirty="0"/>
              <a:t>Least privilege enforced across all services</a:t>
            </a:r>
          </a:p>
          <a:p>
            <a:pPr lvl="1"/>
            <a:r>
              <a:rPr lang="en-IN" dirty="0"/>
              <a:t>Access control checks on every protected resource</a:t>
            </a:r>
          </a:p>
          <a:p>
            <a:pPr lvl="1"/>
            <a:r>
              <a:rPr lang="en-IN" dirty="0"/>
              <a:t>Server-side validation (never rely on client-side checks)</a:t>
            </a:r>
          </a:p>
          <a:p>
            <a:pPr marL="114300" indent="0">
              <a:buNone/>
            </a:pPr>
            <a:r>
              <a:rPr lang="en-IN" b="1" dirty="0"/>
              <a:t>Accounting (Auditing &amp; Monitoring)</a:t>
            </a:r>
          </a:p>
          <a:p>
            <a:pPr lvl="1"/>
            <a:r>
              <a:rPr lang="en-IN" dirty="0"/>
              <a:t>Centralized logging system</a:t>
            </a:r>
          </a:p>
          <a:p>
            <a:pPr lvl="1"/>
            <a:r>
              <a:rPr lang="en-IN" dirty="0"/>
              <a:t>Log all authentication attempts</a:t>
            </a:r>
          </a:p>
          <a:p>
            <a:pPr lvl="1"/>
            <a:r>
              <a:rPr lang="en-IN" dirty="0"/>
              <a:t>Log privilege escalation attempts</a:t>
            </a:r>
          </a:p>
          <a:p>
            <a:pPr lvl="1"/>
            <a:r>
              <a:rPr lang="en-IN" dirty="0"/>
              <a:t>Tamper-resistant audit logs</a:t>
            </a:r>
          </a:p>
          <a:p>
            <a:pPr lvl="1"/>
            <a:r>
              <a:rPr lang="en-IN" dirty="0"/>
              <a:t>Regular log review and automated anomaly detection</a:t>
            </a: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114300" indent="0">
              <a:buNone/>
            </a:pPr>
            <a:r>
              <a:rPr lang="en-US" sz="1800" b="1" dirty="0"/>
              <a:t>Vulnerability Selected: Improper Input Validation (STD-002)</a:t>
            </a:r>
          </a:p>
          <a:p>
            <a:pPr marL="571500" lvl="1" indent="0">
              <a:buNone/>
            </a:pPr>
            <a:r>
              <a:rPr lang="en-US" sz="1800" b="1" dirty="0"/>
              <a:t>Why this vulnerability?</a:t>
            </a:r>
          </a:p>
          <a:p>
            <a:pPr marL="1028700" lvl="2" indent="0">
              <a:buNone/>
            </a:pPr>
            <a:r>
              <a:rPr lang="en-US" dirty="0"/>
              <a:t>Most common root cause of security breaches</a:t>
            </a:r>
          </a:p>
          <a:p>
            <a:pPr marL="1028700" lvl="2" indent="0">
              <a:buNone/>
            </a:pPr>
            <a:r>
              <a:rPr lang="en-US" dirty="0"/>
              <a:t>Leads to SQL injection, buffer overflows, and boundary errors</a:t>
            </a:r>
          </a:p>
          <a:p>
            <a:pPr marL="1028700" lvl="2" indent="0">
              <a:buNone/>
            </a:pPr>
            <a:r>
              <a:rPr lang="en-US" dirty="0"/>
              <a:t>High exploit likelihood and high impact</a:t>
            </a:r>
          </a:p>
          <a:p>
            <a:pPr marL="571500" lvl="1" indent="0">
              <a:buNone/>
            </a:pPr>
            <a:r>
              <a:rPr lang="en-US" sz="1800" b="1" dirty="0"/>
              <a:t>Testing Framework Used</a:t>
            </a:r>
          </a:p>
          <a:p>
            <a:pPr marL="1028700" lvl="2" indent="0">
              <a:buNone/>
            </a:pPr>
            <a:r>
              <a:rPr lang="en-US" dirty="0"/>
              <a:t>Microsoft Visual Studio C++ Unit Testing Framework</a:t>
            </a:r>
          </a:p>
          <a:p>
            <a:pPr marL="1028700" lvl="2" indent="0">
              <a:buNone/>
            </a:pPr>
            <a:r>
              <a:rPr lang="en-US" dirty="0"/>
              <a:t>Automated tests integrated into build pipeline</a:t>
            </a:r>
          </a:p>
          <a:p>
            <a:pPr marL="571500" lvl="1" indent="0">
              <a:buNone/>
            </a:pPr>
            <a:r>
              <a:rPr lang="en-US" sz="1800" b="1" dirty="0"/>
              <a:t>Testing Approach</a:t>
            </a:r>
          </a:p>
          <a:p>
            <a:pPr marL="1028700" lvl="2" indent="0">
              <a:buNone/>
            </a:pPr>
            <a:r>
              <a:rPr lang="en-US" dirty="0"/>
              <a:t>Positive tests (valid input accepted)</a:t>
            </a:r>
          </a:p>
          <a:p>
            <a:pPr marL="1028700" lvl="2" indent="0">
              <a:buNone/>
            </a:pPr>
            <a:r>
              <a:rPr lang="en-US" dirty="0"/>
              <a:t>Negative tests (malicious or boundary input rejected)</a:t>
            </a:r>
          </a:p>
          <a:p>
            <a:pPr marL="1028700" lvl="2" indent="0">
              <a:buNone/>
            </a:pPr>
            <a:r>
              <a:rPr lang="en-US" dirty="0"/>
              <a:t>Exception handling validation</a:t>
            </a:r>
          </a:p>
          <a:p>
            <a:pPr marL="1028700" lvl="2" indent="0">
              <a:buNone/>
            </a:pPr>
            <a:r>
              <a:rPr lang="en-US" dirty="0"/>
              <a:t>Boundary condition testing</a:t>
            </a:r>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4" name="Google Shape;204;p9"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3" name="Text Placeholder 2">
            <a:extLst>
              <a:ext uri="{FF2B5EF4-FFF2-40B4-BE49-F238E27FC236}">
                <a16:creationId xmlns:a16="http://schemas.microsoft.com/office/drawing/2014/main" id="{D6926047-0E9C-7E5D-6868-F623DE638DAB}"/>
              </a:ext>
            </a:extLst>
          </p:cNvPr>
          <p:cNvSpPr>
            <a:spLocks noGrp="1"/>
          </p:cNvSpPr>
          <p:nvPr>
            <p:ph type="body" idx="1"/>
          </p:nvPr>
        </p:nvSpPr>
        <p:spPr>
          <a:xfrm>
            <a:off x="685800" y="2194560"/>
            <a:ext cx="7080250" cy="4110990"/>
          </a:xfrm>
        </p:spPr>
        <p:txBody>
          <a:bodyPr>
            <a:normAutofit fontScale="92500" lnSpcReduction="20000"/>
          </a:bodyPr>
          <a:lstStyle/>
          <a:p>
            <a:pPr marL="114300" indent="0">
              <a:buNone/>
            </a:pPr>
            <a:r>
              <a:rPr lang="en-IN" b="1" dirty="0"/>
              <a:t>Security Automation Across the Pipeline</a:t>
            </a:r>
          </a:p>
          <a:p>
            <a:pPr marL="571500" lvl="1" indent="0">
              <a:buNone/>
            </a:pPr>
            <a:r>
              <a:rPr lang="en-IN" b="1" dirty="0"/>
              <a:t>Pre-Production</a:t>
            </a:r>
          </a:p>
          <a:p>
            <a:pPr marL="1028700" lvl="2" indent="0">
              <a:buNone/>
            </a:pPr>
            <a:r>
              <a:rPr lang="en-IN" dirty="0"/>
              <a:t>Static Application Security Testing (SAST) during build</a:t>
            </a:r>
          </a:p>
          <a:p>
            <a:pPr marL="1028700" lvl="2" indent="0">
              <a:buNone/>
            </a:pPr>
            <a:r>
              <a:rPr lang="en-IN" dirty="0"/>
              <a:t>Secure compiler flags enabled</a:t>
            </a:r>
          </a:p>
          <a:p>
            <a:pPr marL="1028700" lvl="2" indent="0">
              <a:buNone/>
            </a:pPr>
            <a:r>
              <a:rPr lang="en-IN" dirty="0"/>
              <a:t>Dependency scanning (SCA)</a:t>
            </a:r>
          </a:p>
          <a:p>
            <a:pPr marL="1028700" lvl="2" indent="0">
              <a:buNone/>
            </a:pPr>
            <a:r>
              <a:rPr lang="en-IN" dirty="0"/>
              <a:t>Unit testing for input validation and boundary errors</a:t>
            </a:r>
          </a:p>
          <a:p>
            <a:pPr marL="571500" lvl="1" indent="0">
              <a:buNone/>
            </a:pPr>
            <a:r>
              <a:rPr lang="en-IN" b="1" dirty="0"/>
              <a:t>Transition Phase</a:t>
            </a:r>
          </a:p>
          <a:p>
            <a:pPr marL="1028700" lvl="2" indent="0">
              <a:buNone/>
            </a:pPr>
            <a:r>
              <a:rPr lang="en-IN" dirty="0"/>
              <a:t>Dynamic Application Security Testing (DAST)</a:t>
            </a:r>
          </a:p>
          <a:p>
            <a:pPr marL="1028700" lvl="2" indent="0">
              <a:buNone/>
            </a:pPr>
            <a:r>
              <a:rPr lang="en-IN" dirty="0"/>
              <a:t>Penetration testing before release</a:t>
            </a:r>
          </a:p>
          <a:p>
            <a:pPr marL="1028700" lvl="2" indent="0">
              <a:buNone/>
            </a:pPr>
            <a:r>
              <a:rPr lang="en-IN" dirty="0"/>
              <a:t>Configuration validation</a:t>
            </a:r>
          </a:p>
          <a:p>
            <a:pPr marL="571500" lvl="1" indent="0">
              <a:buNone/>
            </a:pPr>
            <a:r>
              <a:rPr lang="en-IN" b="1" dirty="0"/>
              <a:t>Production</a:t>
            </a:r>
          </a:p>
          <a:p>
            <a:pPr marL="1028700" lvl="2" indent="0">
              <a:buNone/>
            </a:pPr>
            <a:r>
              <a:rPr lang="en-IN" dirty="0"/>
              <a:t>SIEM log aggregation</a:t>
            </a:r>
          </a:p>
          <a:p>
            <a:pPr marL="1028700" lvl="2" indent="0">
              <a:buNone/>
            </a:pPr>
            <a:r>
              <a:rPr lang="en-IN" dirty="0"/>
              <a:t>Intrusion detection systems (IDS)</a:t>
            </a:r>
          </a:p>
          <a:p>
            <a:pPr marL="1028700" lvl="2" indent="0">
              <a:buNone/>
            </a:pPr>
            <a:r>
              <a:rPr lang="en-IN" dirty="0"/>
              <a:t>Real-time alerting</a:t>
            </a:r>
          </a:p>
          <a:p>
            <a:pPr marL="1028700" lvl="2" indent="0">
              <a:buNone/>
            </a:pPr>
            <a:r>
              <a:rPr lang="en-IN" dirty="0"/>
              <a:t>Automated rollback for critical vulnerabilities</a:t>
            </a:r>
          </a:p>
        </p:txBody>
      </p:sp>
      <p:pic>
        <p:nvPicPr>
          <p:cNvPr id="4"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p:cNvPicPr>
          <p:nvPr/>
        </p:nvPicPr>
        <p:blipFill rotWithShape="1">
          <a:blip r:embed="rId5">
            <a:alphaModFix/>
          </a:blip>
          <a:srcRect/>
          <a:stretch/>
        </p:blipFill>
        <p:spPr>
          <a:xfrm>
            <a:off x="7829550" y="2472531"/>
            <a:ext cx="3981450" cy="2912269"/>
          </a:xfrm>
          <a:prstGeom prst="rect">
            <a:avLst/>
          </a:prstGeom>
          <a:noFill/>
          <a:ln>
            <a:noFill/>
          </a:ln>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549140"/>
          </a:xfrm>
          <a:prstGeom prst="rect">
            <a:avLst/>
          </a:prstGeom>
          <a:noFill/>
          <a:ln>
            <a:noFill/>
          </a:ln>
        </p:spPr>
        <p:txBody>
          <a:bodyPr spcFirstLastPara="1" wrap="square" lIns="91425" tIns="45700" rIns="91425" bIns="45700" anchor="t" anchorCtr="0">
            <a:noAutofit/>
          </a:bodyPr>
          <a:lstStyle/>
          <a:p>
            <a:pPr marL="114300" indent="0">
              <a:buNone/>
            </a:pPr>
            <a:r>
              <a:rPr lang="en-IN" sz="1200" b="1" dirty="0" err="1"/>
              <a:t>DevSecOps</a:t>
            </a:r>
            <a:r>
              <a:rPr lang="en-IN" sz="1200" b="1" dirty="0"/>
              <a:t> Pipeline Overview</a:t>
            </a:r>
          </a:p>
          <a:p>
            <a:pPr marL="571500" lvl="1" indent="0">
              <a:buNone/>
            </a:pPr>
            <a:r>
              <a:rPr lang="en-IN" sz="1200" b="1" dirty="0"/>
              <a:t>Plan &amp; Design</a:t>
            </a:r>
          </a:p>
          <a:p>
            <a:pPr marL="1028700" lvl="2" indent="0">
              <a:buNone/>
            </a:pPr>
            <a:r>
              <a:rPr lang="en-IN" sz="1200" dirty="0"/>
              <a:t>Threat modelling</a:t>
            </a:r>
          </a:p>
          <a:p>
            <a:pPr marL="1028700" lvl="2" indent="0">
              <a:buNone/>
            </a:pPr>
            <a:r>
              <a:rPr lang="en-IN" sz="1200" dirty="0"/>
              <a:t>Secure architecture reviews</a:t>
            </a:r>
          </a:p>
          <a:p>
            <a:pPr marL="571500" lvl="1" indent="0">
              <a:buNone/>
            </a:pPr>
            <a:r>
              <a:rPr lang="en-IN" sz="1200" b="1" dirty="0"/>
              <a:t>Build Phase</a:t>
            </a:r>
          </a:p>
          <a:p>
            <a:pPr marL="1028700" lvl="2" indent="0">
              <a:buNone/>
            </a:pPr>
            <a:r>
              <a:rPr lang="en-IN" sz="1200" dirty="0"/>
              <a:t>Static Application Security Testing (SAST) – </a:t>
            </a:r>
            <a:r>
              <a:rPr lang="en-IN" sz="1200" dirty="0" err="1"/>
              <a:t>Cppcheck</a:t>
            </a:r>
            <a:r>
              <a:rPr lang="en-IN" sz="1200" dirty="0"/>
              <a:t> / Visual Studio Code Analysis</a:t>
            </a:r>
          </a:p>
          <a:p>
            <a:pPr marL="1028700" lvl="2" indent="0">
              <a:buNone/>
            </a:pPr>
            <a:r>
              <a:rPr lang="en-IN" sz="1200" dirty="0"/>
              <a:t>Secure compiler flags (/GS, /</a:t>
            </a:r>
            <a:r>
              <a:rPr lang="en-IN" sz="1200" dirty="0" err="1"/>
              <a:t>sdl</a:t>
            </a:r>
            <a:r>
              <a:rPr lang="en-IN" sz="1200" dirty="0"/>
              <a:t>)</a:t>
            </a:r>
          </a:p>
          <a:p>
            <a:pPr marL="1028700" lvl="2" indent="0">
              <a:buNone/>
            </a:pPr>
            <a:r>
              <a:rPr lang="en-IN" sz="1200" dirty="0"/>
              <a:t>Dependency scanning (SCA)</a:t>
            </a:r>
          </a:p>
          <a:p>
            <a:pPr marL="571500" lvl="1" indent="0">
              <a:buNone/>
            </a:pPr>
            <a:r>
              <a:rPr lang="en-IN" sz="1200" b="1" dirty="0"/>
              <a:t>Test Phase</a:t>
            </a:r>
          </a:p>
          <a:p>
            <a:pPr marL="1028700" lvl="2" indent="0">
              <a:buNone/>
            </a:pPr>
            <a:r>
              <a:rPr lang="en-IN" sz="1200" dirty="0"/>
              <a:t>Unit testing (Visual Studio C++ Framework)</a:t>
            </a:r>
          </a:p>
          <a:p>
            <a:pPr marL="1028700" lvl="2" indent="0">
              <a:buNone/>
            </a:pPr>
            <a:r>
              <a:rPr lang="en-IN" sz="1200" dirty="0"/>
              <a:t>Dynamic Application Security Testing (DAST)</a:t>
            </a:r>
          </a:p>
          <a:p>
            <a:pPr marL="1028700" lvl="2" indent="0">
              <a:buNone/>
            </a:pPr>
            <a:r>
              <a:rPr lang="en-IN" sz="1200" dirty="0"/>
              <a:t>Fuzz testing for input validation</a:t>
            </a:r>
          </a:p>
          <a:p>
            <a:pPr marL="571500" lvl="1" indent="0">
              <a:buNone/>
            </a:pPr>
            <a:r>
              <a:rPr lang="en-IN" sz="1200" b="1" dirty="0"/>
              <a:t>Release Phase</a:t>
            </a:r>
          </a:p>
          <a:p>
            <a:pPr marL="1028700" lvl="2" indent="0">
              <a:buNone/>
            </a:pPr>
            <a:r>
              <a:rPr lang="en-IN" sz="1200" dirty="0"/>
              <a:t>Penetration testing</a:t>
            </a:r>
          </a:p>
          <a:p>
            <a:pPr marL="1028700" lvl="2" indent="0">
              <a:buNone/>
            </a:pPr>
            <a:r>
              <a:rPr lang="en-IN" sz="1200" dirty="0"/>
              <a:t>Configuration validation</a:t>
            </a:r>
          </a:p>
          <a:p>
            <a:pPr marL="571500" lvl="1" indent="0">
              <a:buNone/>
            </a:pPr>
            <a:r>
              <a:rPr lang="en-IN" sz="1200" b="1" dirty="0"/>
              <a:t>Production Monitoring</a:t>
            </a:r>
          </a:p>
          <a:p>
            <a:pPr marL="1028700" lvl="2" indent="0">
              <a:buNone/>
            </a:pPr>
            <a:r>
              <a:rPr lang="en-IN" sz="1200" dirty="0"/>
              <a:t>SIEM logging</a:t>
            </a:r>
          </a:p>
          <a:p>
            <a:pPr marL="1028700" lvl="2" indent="0">
              <a:buNone/>
            </a:pPr>
            <a:r>
              <a:rPr lang="en-IN" sz="1200" dirty="0"/>
              <a:t>Intrusion Detection Systems (IDS)</a:t>
            </a:r>
          </a:p>
          <a:p>
            <a:pPr marL="1028700" lvl="2" indent="0">
              <a:buNone/>
            </a:pPr>
            <a:r>
              <a:rPr lang="en-IN" sz="1200" dirty="0"/>
              <a:t>Continuous vulnerability scanning</a:t>
            </a: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55000" lnSpcReduction="20000"/>
          </a:bodyPr>
          <a:lstStyle/>
          <a:p>
            <a:pPr marL="114300" indent="0">
              <a:buNone/>
            </a:pPr>
            <a:r>
              <a:rPr lang="en-IN" b="1" dirty="0"/>
              <a:t>Key Risks</a:t>
            </a:r>
          </a:p>
          <a:p>
            <a:pPr marL="571500" lvl="1" indent="0">
              <a:buNone/>
            </a:pPr>
            <a:r>
              <a:rPr lang="en-IN" dirty="0"/>
              <a:t>Input validation and memory safety weaknesses</a:t>
            </a:r>
          </a:p>
          <a:p>
            <a:pPr marL="571500" lvl="1" indent="0">
              <a:buNone/>
            </a:pPr>
            <a:r>
              <a:rPr lang="en-IN" dirty="0"/>
              <a:t>Inconsistent encryption enforcement</a:t>
            </a:r>
          </a:p>
          <a:p>
            <a:pPr marL="571500" lvl="1" indent="0">
              <a:buNone/>
            </a:pPr>
            <a:r>
              <a:rPr lang="en-IN" dirty="0"/>
              <a:t>Limited logging visibility</a:t>
            </a:r>
          </a:p>
          <a:p>
            <a:pPr marL="114300" indent="0">
              <a:buNone/>
            </a:pPr>
            <a:r>
              <a:rPr lang="en-IN" b="1" dirty="0"/>
              <a:t>Solutions</a:t>
            </a:r>
          </a:p>
          <a:p>
            <a:pPr marL="571500" lvl="1" indent="0">
              <a:buNone/>
            </a:pPr>
            <a:r>
              <a:rPr lang="en-IN" dirty="0"/>
              <a:t>Enforce secure coding standards (STD-002, STD-005)</a:t>
            </a:r>
          </a:p>
          <a:p>
            <a:pPr marL="571500" lvl="1" indent="0">
              <a:buNone/>
            </a:pPr>
            <a:r>
              <a:rPr lang="en-IN" dirty="0"/>
              <a:t>Mandatory TLS + AES-256 encryption</a:t>
            </a:r>
          </a:p>
          <a:p>
            <a:pPr marL="571500" lvl="1" indent="0">
              <a:buNone/>
            </a:pPr>
            <a:r>
              <a:rPr lang="en-IN" dirty="0"/>
              <a:t>Centralized logging and automation</a:t>
            </a:r>
          </a:p>
          <a:p>
            <a:pPr marL="114300" indent="0">
              <a:buNone/>
            </a:pPr>
            <a:r>
              <a:rPr lang="en-IN" b="1" dirty="0"/>
              <a:t>Act Now vs Wait</a:t>
            </a:r>
          </a:p>
          <a:p>
            <a:pPr marL="571500" lvl="1" indent="0">
              <a:buNone/>
            </a:pPr>
            <a:r>
              <a:rPr lang="en-IN" b="1" dirty="0"/>
              <a:t>Act Now</a:t>
            </a:r>
          </a:p>
          <a:p>
            <a:pPr marL="1028700" lvl="2" indent="0">
              <a:buNone/>
            </a:pPr>
            <a:r>
              <a:rPr lang="en-IN" dirty="0"/>
              <a:t>Higher upfront effort</a:t>
            </a:r>
          </a:p>
          <a:p>
            <a:pPr marL="1028700" lvl="2" indent="0">
              <a:buNone/>
            </a:pPr>
            <a:r>
              <a:rPr lang="en-IN" dirty="0"/>
              <a:t>Stronger protection and compliance</a:t>
            </a:r>
          </a:p>
          <a:p>
            <a:pPr marL="571500" lvl="1" indent="0">
              <a:buNone/>
            </a:pPr>
            <a:r>
              <a:rPr lang="en-IN" b="1" dirty="0"/>
              <a:t>Wait</a:t>
            </a:r>
          </a:p>
          <a:p>
            <a:pPr marL="1028700" lvl="2" indent="0">
              <a:buNone/>
            </a:pPr>
            <a:r>
              <a:rPr lang="en-IN" dirty="0"/>
              <a:t>Data breach risk</a:t>
            </a:r>
          </a:p>
          <a:p>
            <a:pPr marL="1028700" lvl="2" indent="0">
              <a:buNone/>
            </a:pPr>
            <a:r>
              <a:rPr lang="en-IN" dirty="0"/>
              <a:t>Higher remediation cost</a:t>
            </a:r>
          </a:p>
          <a:p>
            <a:pPr marL="1028700" lvl="2" indent="0">
              <a:buNone/>
            </a:pPr>
            <a:r>
              <a:rPr lang="en-IN" dirty="0"/>
              <a:t>Reputational damage</a:t>
            </a:r>
          </a:p>
          <a:p>
            <a:pPr marL="571500" lvl="1" indent="0">
              <a:buNone/>
            </a:pPr>
            <a:r>
              <a:rPr lang="en-IN" b="1" dirty="0"/>
              <a:t>Next Steps</a:t>
            </a:r>
          </a:p>
          <a:p>
            <a:pPr marL="1028700" lvl="2" indent="0">
              <a:buNone/>
            </a:pPr>
            <a:r>
              <a:rPr lang="en-IN" dirty="0"/>
              <a:t>Expand automated testing</a:t>
            </a:r>
          </a:p>
          <a:p>
            <a:pPr marL="1028700" lvl="2" indent="0">
              <a:buNone/>
            </a:pPr>
            <a:r>
              <a:rPr lang="en-IN" dirty="0"/>
              <a:t>Regular penetration testing</a:t>
            </a:r>
          </a:p>
          <a:p>
            <a:pPr marL="1028700" lvl="2" indent="0">
              <a:buNone/>
            </a:pPr>
            <a:r>
              <a:rPr lang="en-IN" dirty="0"/>
              <a:t>Ongoing developer security training</a:t>
            </a: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114300" indent="0">
              <a:lnSpc>
                <a:spcPct val="150000"/>
              </a:lnSpc>
              <a:buNone/>
            </a:pPr>
            <a:r>
              <a:rPr lang="en-US" sz="2400" b="1" dirty="0"/>
              <a:t>Identified Gaps</a:t>
            </a:r>
          </a:p>
          <a:p>
            <a:pPr marL="114300" indent="0">
              <a:lnSpc>
                <a:spcPct val="150000"/>
              </a:lnSpc>
              <a:buNone/>
            </a:pPr>
            <a:r>
              <a:rPr lang="en-US" sz="2400" dirty="0"/>
              <a:t>No formal red-team / adversarial simulation process</a:t>
            </a:r>
          </a:p>
          <a:p>
            <a:pPr marL="114300" indent="0">
              <a:lnSpc>
                <a:spcPct val="150000"/>
              </a:lnSpc>
              <a:buNone/>
            </a:pPr>
            <a:r>
              <a:rPr lang="en-US" sz="2400" dirty="0"/>
              <a:t>Limited automated fuzz testing coverage</a:t>
            </a:r>
          </a:p>
          <a:p>
            <a:pPr marL="114300" indent="0">
              <a:lnSpc>
                <a:spcPct val="150000"/>
              </a:lnSpc>
              <a:buNone/>
            </a:pPr>
            <a:r>
              <a:rPr lang="en-US" sz="2400" dirty="0"/>
              <a:t>Security training not continuous across teams</a:t>
            </a:r>
          </a:p>
          <a:p>
            <a:pPr marL="114300" indent="0">
              <a:lnSpc>
                <a:spcPct val="150000"/>
              </a:lnSpc>
              <a:buNone/>
            </a:pPr>
            <a:r>
              <a:rPr lang="en-US" sz="2400" dirty="0"/>
              <a:t>No defined security metrics (KPIs) for tracking improvement</a:t>
            </a:r>
          </a:p>
          <a:p>
            <a:pPr marL="114300" indent="0">
              <a:lnSpc>
                <a:spcPct val="150000"/>
              </a:lnSpc>
              <a:buNone/>
            </a:pPr>
            <a:r>
              <a:rPr lang="en-US" sz="2400" dirty="0"/>
              <a:t>Policy review cycle not formally scheduled</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 indent="0">
              <a:buNone/>
            </a:pPr>
            <a:r>
              <a:rPr lang="en-US" b="1" dirty="0"/>
              <a:t>Future Standards to Adopt</a:t>
            </a:r>
          </a:p>
          <a:p>
            <a:pPr marL="571500" lvl="1" indent="0">
              <a:buNone/>
            </a:pPr>
            <a:r>
              <a:rPr lang="en-US" dirty="0"/>
              <a:t>OWASP Secure Coding Practices</a:t>
            </a:r>
          </a:p>
          <a:p>
            <a:pPr marL="571500" lvl="1" indent="0">
              <a:buNone/>
            </a:pPr>
            <a:r>
              <a:rPr lang="en-US" dirty="0"/>
              <a:t>SEI CERT C++ Secure Coding Standard</a:t>
            </a:r>
          </a:p>
          <a:p>
            <a:pPr marL="571500" lvl="1" indent="0">
              <a:buNone/>
            </a:pPr>
            <a:r>
              <a:rPr lang="en-US" dirty="0"/>
              <a:t>Regular third-party security audits</a:t>
            </a:r>
          </a:p>
          <a:p>
            <a:pPr marL="571500" lvl="1" indent="0">
              <a:buNone/>
            </a:pPr>
            <a:r>
              <a:rPr lang="en-US" dirty="0"/>
              <a:t>Formal threat modeling for every major release</a:t>
            </a:r>
          </a:p>
          <a:p>
            <a:pPr marL="571500" lvl="1" indent="0">
              <a:buNone/>
            </a:pPr>
            <a:r>
              <a:rPr lang="en-US" dirty="0"/>
              <a:t>Continuous </a:t>
            </a:r>
            <a:r>
              <a:rPr lang="en-US" dirty="0" err="1"/>
              <a:t>DevSecOps</a:t>
            </a:r>
            <a:r>
              <a:rPr lang="en-US" dirty="0"/>
              <a:t> automation expansion</a:t>
            </a:r>
          </a:p>
          <a:p>
            <a:pPr marL="114300" indent="0">
              <a:buNone/>
            </a:pPr>
            <a:r>
              <a:rPr lang="en-US" b="1" dirty="0"/>
              <a:t>Long-Term Security Vision</a:t>
            </a:r>
          </a:p>
          <a:p>
            <a:pPr marL="571500" lvl="1" indent="0">
              <a:buNone/>
            </a:pPr>
            <a:r>
              <a:rPr lang="en-US" dirty="0"/>
              <a:t>Security integrated from design to deployment</a:t>
            </a:r>
          </a:p>
          <a:p>
            <a:pPr marL="571500" lvl="1" indent="0">
              <a:buNone/>
            </a:pPr>
            <a:r>
              <a:rPr lang="en-US" dirty="0"/>
              <a:t>Measurable security KPIs</a:t>
            </a:r>
          </a:p>
          <a:p>
            <a:pPr marL="571500" lvl="1" indent="0">
              <a:buNone/>
            </a:pPr>
            <a:r>
              <a:rPr lang="en-US" dirty="0"/>
              <a:t>Continuous training for developers</a:t>
            </a:r>
          </a:p>
          <a:p>
            <a:pPr marL="571500" lvl="1" indent="0">
              <a:buNone/>
            </a:pPr>
            <a:r>
              <a:rPr lang="en-US" dirty="0"/>
              <a:t>Proactive threat detection rather than reactive response</a:t>
            </a:r>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85000" lnSpcReduction="10000"/>
          </a:bodyPr>
          <a:lstStyle/>
          <a:p>
            <a:pPr marL="0" marR="0" indent="0">
              <a:lnSpc>
                <a:spcPct val="120000"/>
              </a:lnSpc>
              <a:spcBef>
                <a:spcPts val="0"/>
              </a:spcBef>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OWASP Foundation. (2021). </a:t>
            </a:r>
            <a:r>
              <a:rPr lang="en-IN" sz="1800" i="1" kern="100" dirty="0">
                <a:effectLst/>
                <a:latin typeface="Aptos" panose="020B0004020202020204" pitchFamily="34" charset="0"/>
                <a:ea typeface="Aptos" panose="020B0004020202020204" pitchFamily="34" charset="0"/>
                <a:cs typeface="Times New Roman" panose="02020603050405020304" pitchFamily="18" charset="0"/>
              </a:rPr>
              <a:t>OWASP Top 10: The ten most critical web application security risks.</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r>
              <a:rPr lang="en-IN"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4"/>
              </a:rPr>
              <a:t>https://owasp.org/www-project-top-ten/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20000"/>
              </a:lnSpc>
              <a:spcBef>
                <a:spcPts val="0"/>
              </a:spcBef>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SEI CERT Division. (2023). </a:t>
            </a:r>
            <a:r>
              <a:rPr lang="en-IN" sz="1800" i="1" kern="100" dirty="0">
                <a:effectLst/>
                <a:latin typeface="Aptos" panose="020B0004020202020204" pitchFamily="34" charset="0"/>
                <a:ea typeface="Aptos" panose="020B0004020202020204" pitchFamily="34" charset="0"/>
                <a:cs typeface="Times New Roman" panose="02020603050405020304" pitchFamily="18" charset="0"/>
              </a:rPr>
              <a:t>SEI CERT C++ coding standard.</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Carnegie Mellon University.</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r>
              <a:rPr lang="en-IN"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5"/>
              </a:rPr>
              <a:t>https://wiki.sei.cmu.edu/confluence/display/cplusplus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20000"/>
              </a:lnSpc>
              <a:spcBef>
                <a:spcPts val="0"/>
              </a:spcBef>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National Institute of Standards and Technology (NIST). (2020). </a:t>
            </a:r>
            <a:r>
              <a:rPr lang="en-IN" sz="1800" i="1" kern="100" dirty="0">
                <a:effectLst/>
                <a:latin typeface="Aptos" panose="020B0004020202020204" pitchFamily="34" charset="0"/>
                <a:ea typeface="Aptos" panose="020B0004020202020204" pitchFamily="34" charset="0"/>
                <a:cs typeface="Times New Roman" panose="02020603050405020304" pitchFamily="18" charset="0"/>
              </a:rPr>
              <a:t>Security and privacy controls for information systems and organizations (SP 800-53 Rev. 5).</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r>
              <a:rPr lang="en-IN"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6"/>
              </a:rPr>
              <a:t>https://csrc.nist.gov/publications/detail/sp/800-53/rev-5/final</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20000"/>
              </a:lnSpc>
              <a:spcBef>
                <a:spcPts val="0"/>
              </a:spcBef>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Microsoft. (2023). </a:t>
            </a:r>
            <a:r>
              <a:rPr lang="en-IN" sz="1800" i="1" kern="100" dirty="0">
                <a:effectLst/>
                <a:latin typeface="Aptos" panose="020B0004020202020204" pitchFamily="34" charset="0"/>
                <a:ea typeface="Aptos" panose="020B0004020202020204" pitchFamily="34" charset="0"/>
                <a:cs typeface="Times New Roman" panose="02020603050405020304" pitchFamily="18" charset="0"/>
              </a:rPr>
              <a:t>Secure development lifecycle (SDL).</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r>
              <a:rPr lang="en-IN"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7"/>
              </a:rPr>
              <a:t>https://www.microsoft.com/en-us/securityengineering/sdl</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20000"/>
              </a:lnSpc>
              <a:spcBef>
                <a:spcPts val="0"/>
              </a:spcBef>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OWASP Foundation. (2023). </a:t>
            </a:r>
            <a:r>
              <a:rPr lang="en-IN" sz="1800" i="1" kern="100" dirty="0" err="1">
                <a:effectLst/>
                <a:latin typeface="Aptos" panose="020B0004020202020204" pitchFamily="34" charset="0"/>
                <a:ea typeface="Aptos" panose="020B0004020202020204" pitchFamily="34" charset="0"/>
                <a:cs typeface="Times New Roman" panose="02020603050405020304" pitchFamily="18" charset="0"/>
              </a:rPr>
              <a:t>DevSecOps</a:t>
            </a:r>
            <a:r>
              <a:rPr lang="en-IN" sz="1800" i="1" kern="100" dirty="0">
                <a:effectLst/>
                <a:latin typeface="Aptos" panose="020B0004020202020204" pitchFamily="34" charset="0"/>
                <a:ea typeface="Aptos" panose="020B0004020202020204" pitchFamily="34" charset="0"/>
                <a:cs typeface="Times New Roman" panose="02020603050405020304" pitchFamily="18" charset="0"/>
              </a:rPr>
              <a:t> guideline.</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r>
              <a:rPr lang="en-IN"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8"/>
              </a:rPr>
              <a:t>https://owasp.org/www-project-devsecops-guideline/</a:t>
            </a:r>
            <a:endParaRPr lang="en-IN"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20000"/>
              </a:lnSpc>
              <a:spcBef>
                <a:spcPts val="0"/>
              </a:spcBef>
              <a:spcAft>
                <a:spcPts val="800"/>
              </a:spcAft>
              <a:buNone/>
            </a:pPr>
            <a:r>
              <a:rPr lang="en-IN" sz="1800" dirty="0" err="1">
                <a:effectLst/>
                <a:latin typeface="Aptos" panose="020B0004020202020204" pitchFamily="34" charset="0"/>
                <a:ea typeface="Aptos" panose="020B0004020202020204" pitchFamily="34" charset="0"/>
                <a:cs typeface="Times New Roman" panose="02020603050405020304" pitchFamily="18" charset="0"/>
              </a:rPr>
              <a:t>Cppcheck</a:t>
            </a:r>
            <a:r>
              <a:rPr lang="en-IN" sz="1800" dirty="0">
                <a:effectLst/>
                <a:latin typeface="Aptos" panose="020B0004020202020204" pitchFamily="34" charset="0"/>
                <a:ea typeface="Aptos" panose="020B0004020202020204" pitchFamily="34" charset="0"/>
                <a:cs typeface="Times New Roman" panose="02020603050405020304" pitchFamily="18" charset="0"/>
              </a:rPr>
              <a:t> Team. (2024). </a:t>
            </a:r>
            <a:r>
              <a:rPr lang="en-IN" sz="1800" i="1" dirty="0" err="1">
                <a:effectLst/>
                <a:latin typeface="Aptos" panose="020B0004020202020204" pitchFamily="34" charset="0"/>
                <a:ea typeface="Aptos" panose="020B0004020202020204" pitchFamily="34" charset="0"/>
                <a:cs typeface="Times New Roman" panose="02020603050405020304" pitchFamily="18" charset="0"/>
              </a:rPr>
              <a:t>Cppcheck</a:t>
            </a:r>
            <a:r>
              <a:rPr lang="en-IN" sz="1800" i="1" dirty="0">
                <a:effectLst/>
                <a:latin typeface="Aptos" panose="020B0004020202020204" pitchFamily="34" charset="0"/>
                <a:ea typeface="Aptos" panose="020B0004020202020204" pitchFamily="34" charset="0"/>
                <a:cs typeface="Times New Roman" panose="02020603050405020304" pitchFamily="18" charset="0"/>
              </a:rPr>
              <a:t> static analysis tool.</a:t>
            </a:r>
            <a:br>
              <a:rPr lang="en-IN" sz="1800" dirty="0">
                <a:effectLst/>
                <a:latin typeface="Aptos" panose="020B0004020202020204" pitchFamily="34" charset="0"/>
                <a:ea typeface="Aptos" panose="020B0004020202020204" pitchFamily="34" charset="0"/>
                <a:cs typeface="Times New Roman" panose="02020603050405020304" pitchFamily="18" charset="0"/>
              </a:rPr>
            </a:br>
            <a:r>
              <a:rPr lang="en-IN" sz="1800" u="sng"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9"/>
              </a:rPr>
              <a:t>http://cppcheck.sourceforge.net/</a:t>
            </a:r>
            <a:endParaRPr dirty="0"/>
          </a:p>
        </p:txBody>
      </p:sp>
      <p:pic>
        <p:nvPicPr>
          <p:cNvPr id="239" name="Google Shape;239;p14" descr="Green Pace logo"/>
          <p:cNvPicPr preferRelativeResize="0"/>
          <p:nvPr/>
        </p:nvPicPr>
        <p:blipFill>
          <a:blip r:embed="rId10">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107</TotalTime>
  <Words>1720</Words>
  <Application>Microsoft Office PowerPoint</Application>
  <PresentationFormat>Widescreen</PresentationFormat>
  <Paragraphs>251</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Cambria</vt:lpstr>
      <vt:lpstr>Arial</vt:lpstr>
      <vt:lpstr>Century Gothic</vt:lpstr>
      <vt:lpstr>Aptos</vt:lpstr>
      <vt:lpstr>Wingdings</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revision>6</cp:revision>
  <dcterms:created xsi:type="dcterms:W3CDTF">2020-08-19T17:59:24Z</dcterms:created>
  <dcterms:modified xsi:type="dcterms:W3CDTF">2026-02-22T20:39:01Z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